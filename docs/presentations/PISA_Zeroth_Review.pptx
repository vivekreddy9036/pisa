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2"/>
    <p:sldId id="271" r:id="rId3"/>
    <p:sldId id="281" r:id="rId4"/>
    <p:sldId id="283" r:id="rId5"/>
    <p:sldId id="272" r:id="rId6"/>
    <p:sldId id="282" r:id="rId7"/>
    <p:sldId id="273" r:id="rId8"/>
    <p:sldId id="274" r:id="rId9"/>
    <p:sldId id="285" r:id="rId10"/>
    <p:sldId id="275" r:id="rId11"/>
    <p:sldId id="276" r:id="rId12"/>
    <p:sldId id="286" r:id="rId13"/>
    <p:sldId id="277" r:id="rId14"/>
    <p:sldId id="284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12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7AE162-BDDF-6D4B-A35E-A5C6181442D7}" v="570" dt="2026-06-23T08:57:10.02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Publications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9350-4B41-B3C7-6A21F274C30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9350-4B41-B3C7-6A21F274C30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9350-4B41-B3C7-6A21F274C30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9350-4B41-B3C7-6A21F274C301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9350-4B41-B3C7-6A21F274C301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9350-4B41-B3C7-6A21F274C301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3-9350-4B41-B3C7-6A21F274C30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5</c:v>
                </c:pt>
                <c:pt idx="2">
                  <c:v>3</c:v>
                </c:pt>
                <c:pt idx="3">
                  <c:v>6</c:v>
                </c:pt>
                <c:pt idx="4">
                  <c:v>3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C6-4084-A9A6-27BB26350F2A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9310854288375245"/>
          <c:y val="4.982682315013217E-2"/>
          <c:w val="0.62383117432901536"/>
          <c:h val="0.101666793893807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IEEE</c:v>
                </c:pt>
                <c:pt idx="1">
                  <c:v>USENIX</c:v>
                </c:pt>
                <c:pt idx="2">
                  <c:v>ACM</c:v>
                </c:pt>
                <c:pt idx="3">
                  <c:v>Elsevier</c:v>
                </c:pt>
                <c:pt idx="4">
                  <c:v>MDPI</c:v>
                </c:pt>
                <c:pt idx="5">
                  <c:v>Springer</c:v>
                </c:pt>
                <c:pt idx="6">
                  <c:v>arXiv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D4-4FC5-B2CC-FDC15739AF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78676032"/>
        <c:axId val="1098680592"/>
      </c:barChart>
      <c:catAx>
        <c:axId val="11786760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098680592"/>
        <c:crosses val="autoZero"/>
        <c:auto val="1"/>
        <c:lblAlgn val="ctr"/>
        <c:lblOffset val="100"/>
        <c:noMultiLvlLbl val="0"/>
      </c:catAx>
      <c:valAx>
        <c:axId val="10986805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178676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Publications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9350-4B41-B3C7-6A21F274C30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9350-4B41-B3C7-6A21F274C30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9350-4B41-B3C7-6A21F274C30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9350-4B41-B3C7-6A21F274C301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9350-4B41-B3C7-6A21F274C301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9350-4B41-B3C7-6A21F274C301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3-9350-4B41-B3C7-6A21F274C30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numRef>
              <c:f>Sheet1!$A$2:$A$11</c:f>
              <c:numCache>
                <c:formatCode>General</c:formatCod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8</c:v>
                </c:pt>
                <c:pt idx="6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C6-4084-A9A6-27BB26350F2A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9310854288375245"/>
          <c:y val="4.982682315013217E-2"/>
          <c:w val="0.62383117432901536"/>
          <c:h val="0.101666793893807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B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2690"/>
              </a:lnSpc>
            </a:pPr>
            <a:r>
              <a:rPr spc="-45" dirty="0"/>
              <a:t>Reference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B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2690"/>
              </a:lnSpc>
            </a:pPr>
            <a:r>
              <a:rPr spc="-45" dirty="0"/>
              <a:t>Reference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B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1097893" y="2089177"/>
            <a:ext cx="6561455" cy="6883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1">
                <a:solidFill>
                  <a:srgbClr val="006DB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2690"/>
              </a:lnSpc>
            </a:pPr>
            <a:r>
              <a:rPr spc="-45" dirty="0"/>
              <a:t>Reference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B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2690"/>
              </a:lnSpc>
            </a:pPr>
            <a:r>
              <a:rPr spc="-45" dirty="0"/>
              <a:t>Reference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690942" y="4707737"/>
            <a:ext cx="10906125" cy="14604"/>
          </a:xfrm>
          <a:custGeom>
            <a:avLst/>
            <a:gdLst/>
            <a:ahLst/>
            <a:cxnLst/>
            <a:rect l="l" t="t" r="r" b="b"/>
            <a:pathLst>
              <a:path w="10906125" h="14604">
                <a:moveTo>
                  <a:pt x="0" y="0"/>
                </a:moveTo>
                <a:lnTo>
                  <a:pt x="10906010" y="14275"/>
                </a:lnTo>
              </a:path>
            </a:pathLst>
          </a:custGeom>
          <a:ln w="9524">
            <a:solidFill>
              <a:srgbClr val="FFD1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0555" y="2853232"/>
            <a:ext cx="5724524" cy="12858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2690"/>
              </a:lnSpc>
            </a:pPr>
            <a:r>
              <a:rPr spc="-45" dirty="0"/>
              <a:t>Reference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40571" y="1687275"/>
            <a:ext cx="16578580" cy="14604"/>
          </a:xfrm>
          <a:custGeom>
            <a:avLst/>
            <a:gdLst/>
            <a:ahLst/>
            <a:cxnLst/>
            <a:rect l="l" t="t" r="r" b="b"/>
            <a:pathLst>
              <a:path w="16578580" h="14605">
                <a:moveTo>
                  <a:pt x="0" y="0"/>
                </a:moveTo>
                <a:lnTo>
                  <a:pt x="16578265" y="14177"/>
                </a:lnTo>
              </a:path>
            </a:pathLst>
          </a:custGeom>
          <a:ln w="9524">
            <a:solidFill>
              <a:srgbClr val="A312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2950" y="265071"/>
            <a:ext cx="876299" cy="10667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716742" y="269362"/>
            <a:ext cx="14604" cy="1060450"/>
          </a:xfrm>
          <a:custGeom>
            <a:avLst/>
            <a:gdLst/>
            <a:ahLst/>
            <a:cxnLst/>
            <a:rect l="l" t="t" r="r" b="b"/>
            <a:pathLst>
              <a:path w="14605" h="1060450">
                <a:moveTo>
                  <a:pt x="0" y="0"/>
                </a:moveTo>
                <a:lnTo>
                  <a:pt x="14153" y="106000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18272" y="196336"/>
            <a:ext cx="7219315" cy="10092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B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5299" y="3343884"/>
            <a:ext cx="9851390" cy="391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396" y="9107526"/>
            <a:ext cx="1197610" cy="360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2690"/>
              </a:lnSpc>
            </a:pPr>
            <a:r>
              <a:rPr spc="-45" dirty="0"/>
              <a:t>Reference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90942" y="4707737"/>
              <a:ext cx="10906125" cy="14604"/>
            </a:xfrm>
            <a:custGeom>
              <a:avLst/>
              <a:gdLst/>
              <a:ahLst/>
              <a:cxnLst/>
              <a:rect l="l" t="t" r="r" b="b"/>
              <a:pathLst>
                <a:path w="10906125" h="14604">
                  <a:moveTo>
                    <a:pt x="0" y="0"/>
                  </a:moveTo>
                  <a:lnTo>
                    <a:pt x="10906010" y="14275"/>
                  </a:lnTo>
                </a:path>
              </a:pathLst>
            </a:custGeom>
            <a:ln w="9524">
              <a:solidFill>
                <a:srgbClr val="FFD1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326979" y="9814823"/>
            <a:ext cx="12211322" cy="26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AMARAVATI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AMRITAPURI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BENGALURU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b="1" dirty="0">
                <a:solidFill>
                  <a:srgbClr val="FFFFFF"/>
                </a:solidFill>
                <a:latin typeface="Arial"/>
                <a:cs typeface="Arial"/>
              </a:rPr>
              <a:t>CHENNAI</a:t>
            </a:r>
            <a:r>
              <a:rPr sz="16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COIMBATORE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FARIDABAD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KOCHI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MYSURU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NAGARCOIL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1934" y="6800065"/>
            <a:ext cx="5822950" cy="63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0" algn="ctr">
              <a:lnSpc>
                <a:spcPts val="2385"/>
              </a:lnSpc>
              <a:spcBef>
                <a:spcPts val="100"/>
              </a:spcBef>
            </a:pPr>
            <a:r>
              <a:rPr sz="2100" b="1" dirty="0">
                <a:solidFill>
                  <a:srgbClr val="FFD164"/>
                </a:solidFill>
                <a:latin typeface="Cambria"/>
                <a:cs typeface="Cambria"/>
              </a:rPr>
              <a:t>Amrita</a:t>
            </a:r>
            <a:r>
              <a:rPr sz="2100" b="1" spc="-55" dirty="0">
                <a:solidFill>
                  <a:srgbClr val="FFD164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FFD164"/>
                </a:solidFill>
                <a:latin typeface="Cambria"/>
                <a:cs typeface="Cambria"/>
              </a:rPr>
              <a:t>School</a:t>
            </a:r>
            <a:r>
              <a:rPr sz="2100" b="1" spc="-50" dirty="0">
                <a:solidFill>
                  <a:srgbClr val="FFD164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FFD164"/>
                </a:solidFill>
                <a:latin typeface="Cambria"/>
                <a:cs typeface="Cambria"/>
              </a:rPr>
              <a:t>of</a:t>
            </a:r>
            <a:r>
              <a:rPr sz="2100" b="1" spc="-50" dirty="0">
                <a:solidFill>
                  <a:srgbClr val="FFD164"/>
                </a:solidFill>
                <a:latin typeface="Cambria"/>
                <a:cs typeface="Cambria"/>
              </a:rPr>
              <a:t> </a:t>
            </a:r>
            <a:r>
              <a:rPr sz="2100" b="1" spc="-10" dirty="0">
                <a:solidFill>
                  <a:srgbClr val="FFD164"/>
                </a:solidFill>
                <a:latin typeface="Cambria"/>
                <a:cs typeface="Cambria"/>
              </a:rPr>
              <a:t>Computing</a:t>
            </a:r>
            <a:endParaRPr sz="2100">
              <a:latin typeface="Cambria"/>
              <a:cs typeface="Cambria"/>
            </a:endParaRPr>
          </a:p>
          <a:p>
            <a:pPr algn="ctr">
              <a:lnSpc>
                <a:spcPts val="2385"/>
              </a:lnSpc>
            </a:pPr>
            <a:r>
              <a:rPr sz="2100" b="1" dirty="0">
                <a:solidFill>
                  <a:srgbClr val="FFD164"/>
                </a:solidFill>
                <a:latin typeface="Cambria"/>
                <a:cs typeface="Cambria"/>
              </a:rPr>
              <a:t>Amrita</a:t>
            </a:r>
            <a:r>
              <a:rPr sz="2100" b="1" spc="-35" dirty="0">
                <a:solidFill>
                  <a:srgbClr val="FFD164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FFD164"/>
                </a:solidFill>
                <a:latin typeface="Cambria"/>
                <a:cs typeface="Cambria"/>
              </a:rPr>
              <a:t>Vishwa</a:t>
            </a:r>
            <a:r>
              <a:rPr sz="2100" b="1" spc="-35" dirty="0">
                <a:solidFill>
                  <a:srgbClr val="FFD164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FFD164"/>
                </a:solidFill>
                <a:latin typeface="Cambria"/>
                <a:cs typeface="Cambria"/>
              </a:rPr>
              <a:t>Vidyapeetham,</a:t>
            </a:r>
            <a:r>
              <a:rPr sz="2100" b="1" spc="-35" dirty="0">
                <a:solidFill>
                  <a:srgbClr val="FFD164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FFD164"/>
                </a:solidFill>
                <a:latin typeface="Cambria"/>
                <a:cs typeface="Cambria"/>
              </a:rPr>
              <a:t>Chennai</a:t>
            </a:r>
            <a:r>
              <a:rPr sz="2100" b="1" spc="-35" dirty="0">
                <a:solidFill>
                  <a:srgbClr val="FFD164"/>
                </a:solidFill>
                <a:latin typeface="Cambria"/>
                <a:cs typeface="Cambria"/>
              </a:rPr>
              <a:t> </a:t>
            </a:r>
            <a:r>
              <a:rPr sz="2100" b="1" spc="-10" dirty="0">
                <a:solidFill>
                  <a:srgbClr val="FFD164"/>
                </a:solidFill>
                <a:latin typeface="Cambria"/>
                <a:cs typeface="Cambria"/>
              </a:rPr>
              <a:t>Campus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86179" y="522922"/>
            <a:ext cx="10915650" cy="6127750"/>
            <a:chOff x="3686179" y="522922"/>
            <a:chExt cx="10915650" cy="6127750"/>
          </a:xfrm>
        </p:grpSpPr>
        <p:sp>
          <p:nvSpPr>
            <p:cNvPr id="8" name="object 8"/>
            <p:cNvSpPr/>
            <p:nvPr/>
          </p:nvSpPr>
          <p:spPr>
            <a:xfrm>
              <a:off x="3690942" y="6631538"/>
              <a:ext cx="10906125" cy="14604"/>
            </a:xfrm>
            <a:custGeom>
              <a:avLst/>
              <a:gdLst/>
              <a:ahLst/>
              <a:cxnLst/>
              <a:rect l="l" t="t" r="r" b="b"/>
              <a:pathLst>
                <a:path w="10906125" h="14604">
                  <a:moveTo>
                    <a:pt x="0" y="0"/>
                  </a:moveTo>
                  <a:lnTo>
                    <a:pt x="10906010" y="14275"/>
                  </a:lnTo>
                </a:path>
              </a:pathLst>
            </a:custGeom>
            <a:ln w="9524">
              <a:solidFill>
                <a:srgbClr val="FFD1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6401" y="522922"/>
              <a:ext cx="6953249" cy="20383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08968" y="7876540"/>
            <a:ext cx="5205730" cy="3911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mbria"/>
                <a:cs typeface="Cambria"/>
              </a:rPr>
              <a:t>Student</a:t>
            </a:r>
            <a:r>
              <a:rPr sz="2400" b="1" spc="-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mbria"/>
                <a:cs typeface="Cambria"/>
              </a:rPr>
              <a:t>Member</a:t>
            </a:r>
            <a:endParaRPr lang="en-US" sz="2400" b="1" spc="-5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8968" y="8500745"/>
            <a:ext cx="5406032" cy="36170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lang="en-US" sz="2400" b="1" spc="-55" dirty="0">
                <a:solidFill>
                  <a:srgbClr val="FFFFFF"/>
                </a:solidFill>
                <a:latin typeface="Cambria"/>
                <a:cs typeface="Cambria"/>
              </a:rPr>
              <a:t>PINNEMCHARLA SAI VIVEK REDDY</a:t>
            </a:r>
            <a:endParaRPr sz="2400" b="1" spc="-50" dirty="0">
              <a:solidFill>
                <a:srgbClr val="FFFFFF"/>
              </a:solidFill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86400" y="8515598"/>
            <a:ext cx="2908935" cy="36170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  <a:tabLst>
                <a:tab pos="231775" algn="l"/>
              </a:tabLst>
            </a:pPr>
            <a:r>
              <a:rPr lang="en-IN" sz="2400" b="1" spc="-50" dirty="0">
                <a:solidFill>
                  <a:srgbClr val="FFFFFF"/>
                </a:solidFill>
                <a:latin typeface="Cambria"/>
                <a:cs typeface="Cambria"/>
              </a:rPr>
              <a:t>CH.SC.U4CYS23034</a:t>
            </a:r>
            <a:endParaRPr sz="2400" b="1" spc="-10" dirty="0">
              <a:solidFill>
                <a:srgbClr val="FFFFFF"/>
              </a:solidFill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06400" y="7724140"/>
            <a:ext cx="189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mbria"/>
                <a:cs typeface="Cambria"/>
              </a:rPr>
              <a:t>Guide</a:t>
            </a:r>
            <a:r>
              <a:rPr sz="2400" b="1" spc="-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mbria"/>
                <a:cs typeface="Cambria"/>
              </a:rPr>
              <a:t>Details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154153" y="8420100"/>
            <a:ext cx="4824879" cy="38215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Guide name : Dr. J. V. ARAVIND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93E7C8A-CFEA-AEB6-7980-C2675DCDE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673" y="2499836"/>
            <a:ext cx="15383599" cy="738664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Cambria"/>
              </a:rPr>
              <a:t>20CYS495 Project Phase-1 Zeroth Review Presentation</a:t>
            </a: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91B12378-0D93-5834-94FC-FC1E5C9F2A1A}"/>
              </a:ext>
            </a:extLst>
          </p:cNvPr>
          <p:cNvSpPr txBox="1"/>
          <p:nvPr/>
        </p:nvSpPr>
        <p:spPr>
          <a:xfrm>
            <a:off x="1810108" y="4980481"/>
            <a:ext cx="15235832" cy="1436162"/>
          </a:xfrm>
          <a:prstGeom prst="rect">
            <a:avLst/>
          </a:prstGeom>
        </p:spPr>
        <p:txBody>
          <a:bodyPr vert="horz" wrap="square" lIns="0" tIns="95885" rIns="0" bIns="0" rtlCol="0" anchor="t">
            <a:spAutoFit/>
          </a:bodyPr>
          <a:lstStyle/>
          <a:p>
            <a:pPr marR="902335" algn="ctr">
              <a:lnSpc>
                <a:spcPts val="5470"/>
              </a:lnSpc>
              <a:spcBef>
                <a:spcPts val="3520"/>
              </a:spcBef>
            </a:pPr>
            <a:r>
              <a:rPr sz="4000" b="1" spc="-10" dirty="0">
                <a:solidFill>
                  <a:srgbClr val="FFFFFF"/>
                </a:solidFill>
                <a:latin typeface="Cambria"/>
                <a:cs typeface="Cambria"/>
              </a:rPr>
              <a:t>Department</a:t>
            </a:r>
            <a:r>
              <a:rPr sz="4000" b="1" spc="-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000" b="1" spc="-25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endParaRPr sz="4000" dirty="0">
              <a:latin typeface="Cambria"/>
              <a:cs typeface="Cambria"/>
            </a:endParaRPr>
          </a:p>
          <a:p>
            <a:pPr marR="769620" algn="ctr">
              <a:lnSpc>
                <a:spcPts val="5470"/>
              </a:lnSpc>
            </a:pPr>
            <a:r>
              <a:rPr sz="4000" b="1" dirty="0">
                <a:solidFill>
                  <a:srgbClr val="FFFFFF"/>
                </a:solidFill>
                <a:latin typeface="Cambria"/>
                <a:cs typeface="Cambria"/>
              </a:rPr>
              <a:t>Computer</a:t>
            </a:r>
            <a:r>
              <a:rPr sz="4000" b="1" spc="-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000" b="1" dirty="0">
                <a:solidFill>
                  <a:srgbClr val="FFFFFF"/>
                </a:solidFill>
                <a:latin typeface="Cambria"/>
                <a:cs typeface="Cambria"/>
              </a:rPr>
              <a:t>Science</a:t>
            </a:r>
            <a:r>
              <a:rPr sz="4000" b="1" spc="-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000" b="1" dirty="0">
                <a:solidFill>
                  <a:srgbClr val="FFFFFF"/>
                </a:solidFill>
                <a:latin typeface="Cambria"/>
                <a:cs typeface="Cambria"/>
              </a:rPr>
              <a:t>&amp;</a:t>
            </a:r>
            <a:r>
              <a:rPr sz="4000" b="1" spc="-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Cambria"/>
                <a:cs typeface="Cambria"/>
              </a:rPr>
              <a:t>Engineering</a:t>
            </a:r>
            <a:r>
              <a:rPr lang="en-US" sz="4000" b="1" spc="-10" dirty="0">
                <a:solidFill>
                  <a:srgbClr val="FFFFFF"/>
                </a:solidFill>
                <a:latin typeface="Cambria"/>
                <a:cs typeface="Cambria"/>
              </a:rPr>
              <a:t> - CYS</a:t>
            </a:r>
            <a:endParaRPr sz="4000" dirty="0">
              <a:latin typeface="Cambria"/>
              <a:cs typeface="Cambri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5C3B33-C85D-24A4-C843-5B9A545CB2A9}"/>
              </a:ext>
            </a:extLst>
          </p:cNvPr>
          <p:cNvSpPr txBox="1"/>
          <p:nvPr/>
        </p:nvSpPr>
        <p:spPr>
          <a:xfrm>
            <a:off x="843453" y="3280958"/>
            <a:ext cx="15773400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r>
              <a:rPr lang="en-US" sz="4400" b="1" dirty="0">
                <a:solidFill>
                  <a:srgbClr val="FFC000"/>
                </a:solidFill>
                <a:latin typeface="Cambria"/>
                <a:ea typeface="Cambria"/>
                <a:cs typeface="Cambria"/>
              </a:rPr>
              <a:t>A Portable Passive Framework for Unified IoT Security</a:t>
            </a:r>
            <a:endParaRPr lang="en-US" sz="8000" b="1" dirty="0">
              <a:solidFill>
                <a:srgbClr val="FFC000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842EAD-A993-C6A2-369C-865CCC6573FA}"/>
              </a:ext>
            </a:extLst>
          </p:cNvPr>
          <p:cNvSpPr txBox="1"/>
          <p:nvPr/>
        </p:nvSpPr>
        <p:spPr>
          <a:xfrm>
            <a:off x="4738037" y="3972738"/>
            <a:ext cx="93799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FC000"/>
                </a:solidFill>
                <a:latin typeface="Cambria"/>
                <a:ea typeface="Cambria"/>
                <a:cs typeface="Cambria"/>
              </a:rPr>
              <a:t>Assessment on Edge Hardware</a:t>
            </a:r>
            <a:endParaRPr lang="en-IN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01B4E-5518-3407-AE8C-BCF9550A9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069C9DF-713A-43F7-45A8-25FAD7A5C2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8273" y="196336"/>
            <a:ext cx="3591928" cy="996697"/>
          </a:xfrm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algn="l"/>
            <a:r>
              <a:rPr lang="en-IN" dirty="0">
                <a:solidFill>
                  <a:srgbClr val="99124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A4301BF-EC84-C8D2-AEC4-E01679645874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FF63EEB-1FC6-CD3F-F426-7D6BE70130FA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584BDDBB-8A8F-A609-D2A7-40193F33CC5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D56942F-3BD3-47F0-9960-4E2F0B88266A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53C7670-7EAF-16FB-8C79-EDE9FD8C62D7}"/>
              </a:ext>
            </a:extLst>
          </p:cNvPr>
          <p:cNvGrpSpPr/>
          <p:nvPr/>
        </p:nvGrpSpPr>
        <p:grpSpPr>
          <a:xfrm>
            <a:off x="40135" y="3655375"/>
            <a:ext cx="3192964" cy="3409442"/>
            <a:chOff x="40135" y="3655375"/>
            <a:chExt cx="3192964" cy="3409442"/>
          </a:xfrm>
        </p:grpSpPr>
        <p:sp>
          <p:nvSpPr>
            <p:cNvPr id="19" name="object 11">
              <a:extLst>
                <a:ext uri="{FF2B5EF4-FFF2-40B4-BE49-F238E27FC236}">
                  <a16:creationId xmlns:a16="http://schemas.microsoft.com/office/drawing/2014/main" id="{286B1191-6470-A910-0F26-2881FDB95C5D}"/>
                </a:ext>
              </a:extLst>
            </p:cNvPr>
            <p:cNvSpPr txBox="1"/>
            <p:nvPr/>
          </p:nvSpPr>
          <p:spPr>
            <a:xfrm>
              <a:off x="79826" y="4967610"/>
              <a:ext cx="282538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Literature Search</a:t>
              </a:r>
              <a:endParaRPr sz="2400" spc="-50" dirty="0">
                <a:solidFill>
                  <a:srgbClr val="FFFFFF"/>
                </a:solidFill>
                <a:latin typeface="Cambria"/>
                <a:cs typeface="Cambria"/>
              </a:endParaRPr>
            </a:p>
          </p:txBody>
        </p:sp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572AD8CC-B4B3-4D21-8E43-0DC61634A977}"/>
                </a:ext>
              </a:extLst>
            </p:cNvPr>
            <p:cNvSpPr txBox="1"/>
            <p:nvPr/>
          </p:nvSpPr>
          <p:spPr>
            <a:xfrm>
              <a:off x="91753" y="6237920"/>
              <a:ext cx="3141346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</a:rPr>
                <a:t>Architecture Diagram</a:t>
              </a:r>
              <a:endParaRPr sz="2400" dirty="0"/>
            </a:p>
          </p:txBody>
        </p:sp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08D75FA8-B45D-24BD-F71C-9ADB8AB59180}"/>
                </a:ext>
              </a:extLst>
            </p:cNvPr>
            <p:cNvSpPr txBox="1"/>
            <p:nvPr/>
          </p:nvSpPr>
          <p:spPr>
            <a:xfrm>
              <a:off x="74559" y="4077070"/>
              <a:ext cx="245745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5" dirty="0">
                  <a:solidFill>
                    <a:schemeClr val="bg1"/>
                  </a:solidFill>
                  <a:latin typeface="Cambria"/>
                  <a:cs typeface="Cambria"/>
                </a:rPr>
                <a:t>Problem</a:t>
              </a:r>
              <a:r>
                <a:rPr sz="2400" spc="-6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400" spc="-45" dirty="0">
                  <a:solidFill>
                    <a:schemeClr val="bg1"/>
                  </a:solidFill>
                  <a:latin typeface="Cambria"/>
                  <a:cs typeface="Cambria"/>
                </a:rPr>
                <a:t>Statement</a:t>
              </a:r>
              <a:endParaRPr sz="2400" dirty="0">
                <a:solidFill>
                  <a:schemeClr val="bg1"/>
                </a:solidFill>
                <a:latin typeface="Cambria"/>
                <a:cs typeface="Cambria"/>
              </a:endParaRPr>
            </a:p>
          </p:txBody>
        </p:sp>
        <p:sp>
          <p:nvSpPr>
            <p:cNvPr id="17" name="object 9">
              <a:extLst>
                <a:ext uri="{FF2B5EF4-FFF2-40B4-BE49-F238E27FC236}">
                  <a16:creationId xmlns:a16="http://schemas.microsoft.com/office/drawing/2014/main" id="{13F7EB03-64F6-9E4F-6DB9-4F4419491880}"/>
                </a:ext>
              </a:extLst>
            </p:cNvPr>
            <p:cNvSpPr txBox="1"/>
            <p:nvPr/>
          </p:nvSpPr>
          <p:spPr>
            <a:xfrm>
              <a:off x="79475" y="3655375"/>
              <a:ext cx="1721848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b="1" spc="-50" dirty="0">
                  <a:solidFill>
                    <a:srgbClr val="FFC000"/>
                  </a:solidFill>
                  <a:latin typeface="Cambria"/>
                  <a:ea typeface="Cambria"/>
                </a:rPr>
                <a:t>Motivation</a:t>
              </a:r>
              <a:endParaRPr lang="en-US" sz="2400" b="1" dirty="0">
                <a:solidFill>
                  <a:srgbClr val="FFC000"/>
                </a:solidFill>
                <a:latin typeface="Cambria"/>
                <a:ea typeface="Cambria"/>
              </a:endParaRPr>
            </a:p>
          </p:txBody>
        </p:sp>
        <p:sp>
          <p:nvSpPr>
            <p:cNvPr id="18" name="object 10">
              <a:extLst>
                <a:ext uri="{FF2B5EF4-FFF2-40B4-BE49-F238E27FC236}">
                  <a16:creationId xmlns:a16="http://schemas.microsoft.com/office/drawing/2014/main" id="{F4F7949B-90B2-5C38-2A19-745B0D4450CD}"/>
                </a:ext>
              </a:extLst>
            </p:cNvPr>
            <p:cNvSpPr txBox="1"/>
            <p:nvPr/>
          </p:nvSpPr>
          <p:spPr>
            <a:xfrm>
              <a:off x="77006" y="4569332"/>
              <a:ext cx="2541904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60" dirty="0">
                  <a:solidFill>
                    <a:srgbClr val="FFFFFF"/>
                  </a:solidFill>
                  <a:latin typeface="Cambria"/>
                  <a:cs typeface="Cambria"/>
                </a:rPr>
                <a:t>Literature</a:t>
              </a:r>
              <a:r>
                <a:rPr sz="2400" spc="-65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2400" spc="-30" dirty="0">
                  <a:solidFill>
                    <a:srgbClr val="FFFFFF"/>
                  </a:solidFill>
                  <a:latin typeface="Cambria"/>
                  <a:cs typeface="Cambria"/>
                </a:rPr>
                <a:t>Survey</a:t>
              </a:r>
              <a:endParaRPr sz="2400" dirty="0">
                <a:latin typeface="Cambria"/>
                <a:cs typeface="Cambria"/>
              </a:endParaRPr>
            </a:p>
          </p:txBody>
        </p:sp>
        <p:sp>
          <p:nvSpPr>
            <p:cNvPr id="20" name="object 12">
              <a:extLst>
                <a:ext uri="{FF2B5EF4-FFF2-40B4-BE49-F238E27FC236}">
                  <a16:creationId xmlns:a16="http://schemas.microsoft.com/office/drawing/2014/main" id="{857DE69B-35E7-1862-508B-28A6C50AE12A}"/>
                </a:ext>
              </a:extLst>
            </p:cNvPr>
            <p:cNvSpPr txBox="1"/>
            <p:nvPr/>
          </p:nvSpPr>
          <p:spPr>
            <a:xfrm>
              <a:off x="91753" y="5373260"/>
              <a:ext cx="254190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6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Research Gaps</a:t>
              </a:r>
            </a:p>
          </p:txBody>
        </p:sp>
        <p:sp>
          <p:nvSpPr>
            <p:cNvPr id="21" name="object 13">
              <a:extLst>
                <a:ext uri="{FF2B5EF4-FFF2-40B4-BE49-F238E27FC236}">
                  <a16:creationId xmlns:a16="http://schemas.microsoft.com/office/drawing/2014/main" id="{0AD7E429-E4EA-1F88-2421-C4FFC19D06D0}"/>
                </a:ext>
              </a:extLst>
            </p:cNvPr>
            <p:cNvSpPr txBox="1"/>
            <p:nvPr/>
          </p:nvSpPr>
          <p:spPr>
            <a:xfrm>
              <a:off x="91753" y="5794343"/>
              <a:ext cx="136144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5" dirty="0">
                  <a:solidFill>
                    <a:srgbClr val="FFFFFF"/>
                  </a:solidFill>
                  <a:latin typeface="Cambria"/>
                </a:rPr>
                <a:t>Objectives</a:t>
              </a:r>
              <a:endParaRPr sz="2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873C738-9F16-7E1C-53AC-AA5519A53653}"/>
                </a:ext>
              </a:extLst>
            </p:cNvPr>
            <p:cNvSpPr txBox="1"/>
            <p:nvPr/>
          </p:nvSpPr>
          <p:spPr>
            <a:xfrm>
              <a:off x="40135" y="6603152"/>
              <a:ext cx="24030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spc="-4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References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6396ADC-9098-A762-067B-4E44BD46D3B1}"/>
              </a:ext>
            </a:extLst>
          </p:cNvPr>
          <p:cNvSpPr txBox="1"/>
          <p:nvPr/>
        </p:nvSpPr>
        <p:spPr>
          <a:xfrm>
            <a:off x="3614237" y="3038407"/>
            <a:ext cx="1487819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Consumer IoT devices routers, cameras, sensors remain exposed to known, unpatched CVEs in active daily use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IoT security tools are enterprise grade, lab based, or require fixed infrastructure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Portable, real-time, on-site IoT vulnerability assessment remains an open challenge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PISA directly addresses this gap a self contained, field-deployable assessment tool on Raspberry Pi 4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04AD8B-CFA3-0611-AFA6-1A90DEADF1DD}"/>
              </a:ext>
            </a:extLst>
          </p:cNvPr>
          <p:cNvSpPr txBox="1"/>
          <p:nvPr/>
        </p:nvSpPr>
        <p:spPr>
          <a:xfrm>
            <a:off x="7441791" y="9287581"/>
            <a:ext cx="9195618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r>
              <a:rPr lang="en-US" sz="20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PISA: PORTABLE IOT SECURITY ASSESSMENT PLATFORM</a:t>
            </a:r>
          </a:p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endParaRPr lang="en-US" sz="4400" b="1" dirty="0">
              <a:solidFill>
                <a:schemeClr val="bg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0A2A12-6947-2FBA-5C29-6EF6EB1D8B68}"/>
              </a:ext>
            </a:extLst>
          </p:cNvPr>
          <p:cNvSpPr txBox="1"/>
          <p:nvPr/>
        </p:nvSpPr>
        <p:spPr>
          <a:xfrm>
            <a:off x="10668000" y="9905545"/>
            <a:ext cx="487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PINNEMCHARLA SAI VIVEK REDDY  |  CH.SC.U4CYS23034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2180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A3123F"/>
                </a:solidFill>
                <a:latin typeface="Georgia"/>
                <a:cs typeface="Georgia"/>
              </a:rPr>
              <a:t>Problem 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/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7BF67ED1-3292-0A24-04F4-4DB32644DDF8}"/>
              </a:ext>
            </a:extLst>
          </p:cNvPr>
          <p:cNvSpPr txBox="1"/>
          <p:nvPr/>
        </p:nvSpPr>
        <p:spPr>
          <a:xfrm>
            <a:off x="3495304" y="2473766"/>
            <a:ext cx="1463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2400" b="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networks lack a single portable, passive tool to assess WiFi security and device layer CVE exposure simultaneously without disrupting the network.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DEF03C-6BCB-9758-3B0C-20635592C424}"/>
              </a:ext>
            </a:extLst>
          </p:cNvPr>
          <p:cNvSpPr txBox="1"/>
          <p:nvPr/>
        </p:nvSpPr>
        <p:spPr>
          <a:xfrm>
            <a:off x="3500470" y="4048618"/>
            <a:ext cx="14447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2400" b="0" dirty="0">
                <a:solidFill>
                  <a:srgbClr val="1F39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Question:  Can a single RPi 4 passively grade WiFi (A-F), fingerprint IoT devices by protocol, and map them to live CISA KEV CVEs without injecting any traffic?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730BE4-A294-A863-5B2E-99E5ECAFED23}"/>
              </a:ext>
            </a:extLst>
          </p:cNvPr>
          <p:cNvSpPr/>
          <p:nvPr/>
        </p:nvSpPr>
        <p:spPr>
          <a:xfrm>
            <a:off x="3208518" y="1596452"/>
            <a:ext cx="14462760" cy="60555"/>
          </a:xfrm>
          <a:prstGeom prst="rect">
            <a:avLst/>
          </a:prstGeom>
          <a:solidFill>
            <a:srgbClr val="991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991245"/>
              </a:highlight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015F543-1BD8-8E24-C3E2-A3E6DC1CF118}"/>
              </a:ext>
            </a:extLst>
          </p:cNvPr>
          <p:cNvGrpSpPr/>
          <p:nvPr/>
        </p:nvGrpSpPr>
        <p:grpSpPr>
          <a:xfrm>
            <a:off x="40135" y="3655375"/>
            <a:ext cx="3192964" cy="3409442"/>
            <a:chOff x="40135" y="3655375"/>
            <a:chExt cx="3192964" cy="3409442"/>
          </a:xfrm>
        </p:grpSpPr>
        <p:sp>
          <p:nvSpPr>
            <p:cNvPr id="30" name="object 11">
              <a:extLst>
                <a:ext uri="{FF2B5EF4-FFF2-40B4-BE49-F238E27FC236}">
                  <a16:creationId xmlns:a16="http://schemas.microsoft.com/office/drawing/2014/main" id="{02B93C92-6599-617D-4122-D918E27B5160}"/>
                </a:ext>
              </a:extLst>
            </p:cNvPr>
            <p:cNvSpPr txBox="1"/>
            <p:nvPr/>
          </p:nvSpPr>
          <p:spPr>
            <a:xfrm>
              <a:off x="79826" y="4967610"/>
              <a:ext cx="282538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Literature Search</a:t>
              </a:r>
              <a:endParaRPr sz="2400" spc="-50" dirty="0">
                <a:solidFill>
                  <a:srgbClr val="FFFFFF"/>
                </a:solidFill>
                <a:latin typeface="Cambria"/>
                <a:cs typeface="Cambria"/>
              </a:endParaRPr>
            </a:p>
          </p:txBody>
        </p:sp>
        <p:sp>
          <p:nvSpPr>
            <p:cNvPr id="32" name="object 14">
              <a:extLst>
                <a:ext uri="{FF2B5EF4-FFF2-40B4-BE49-F238E27FC236}">
                  <a16:creationId xmlns:a16="http://schemas.microsoft.com/office/drawing/2014/main" id="{54D4764C-B537-1817-4D00-95703DD4D346}"/>
                </a:ext>
              </a:extLst>
            </p:cNvPr>
            <p:cNvSpPr txBox="1"/>
            <p:nvPr/>
          </p:nvSpPr>
          <p:spPr>
            <a:xfrm>
              <a:off x="91753" y="6237920"/>
              <a:ext cx="3141346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</a:rPr>
                <a:t>Architecture Diagram</a:t>
              </a:r>
              <a:endParaRPr sz="2400" dirty="0"/>
            </a:p>
          </p:txBody>
        </p:sp>
        <p:sp>
          <p:nvSpPr>
            <p:cNvPr id="34" name="object 7">
              <a:extLst>
                <a:ext uri="{FF2B5EF4-FFF2-40B4-BE49-F238E27FC236}">
                  <a16:creationId xmlns:a16="http://schemas.microsoft.com/office/drawing/2014/main" id="{68E66120-87AB-3C6B-130C-38CF2DF8428F}"/>
                </a:ext>
              </a:extLst>
            </p:cNvPr>
            <p:cNvSpPr txBox="1"/>
            <p:nvPr/>
          </p:nvSpPr>
          <p:spPr>
            <a:xfrm>
              <a:off x="74559" y="4077070"/>
              <a:ext cx="2825384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b="1" spc="-55" dirty="0">
                  <a:solidFill>
                    <a:srgbClr val="FFC000"/>
                  </a:solidFill>
                  <a:latin typeface="Cambria"/>
                  <a:cs typeface="Cambria"/>
                </a:rPr>
                <a:t>Problem</a:t>
              </a:r>
              <a:r>
                <a:rPr sz="2400" b="1" spc="-65" dirty="0">
                  <a:solidFill>
                    <a:srgbClr val="FFC000"/>
                  </a:solidFill>
                  <a:latin typeface="Cambria"/>
                  <a:cs typeface="Cambria"/>
                </a:rPr>
                <a:t> </a:t>
              </a:r>
              <a:r>
                <a:rPr sz="2400" b="1" spc="-45" dirty="0">
                  <a:solidFill>
                    <a:srgbClr val="FFC000"/>
                  </a:solidFill>
                  <a:latin typeface="Cambria"/>
                  <a:cs typeface="Cambria"/>
                </a:rPr>
                <a:t>Statement</a:t>
              </a:r>
              <a:endParaRPr sz="2400" b="1" dirty="0">
                <a:solidFill>
                  <a:srgbClr val="FFC000"/>
                </a:solidFill>
                <a:latin typeface="Cambria"/>
                <a:cs typeface="Cambria"/>
              </a:endParaRPr>
            </a:p>
          </p:txBody>
        </p:sp>
        <p:sp>
          <p:nvSpPr>
            <p:cNvPr id="36" name="object 9">
              <a:extLst>
                <a:ext uri="{FF2B5EF4-FFF2-40B4-BE49-F238E27FC236}">
                  <a16:creationId xmlns:a16="http://schemas.microsoft.com/office/drawing/2014/main" id="{2BC4EA6A-D541-1F5C-4819-3BAF0B692096}"/>
                </a:ext>
              </a:extLst>
            </p:cNvPr>
            <p:cNvSpPr txBox="1"/>
            <p:nvPr/>
          </p:nvSpPr>
          <p:spPr>
            <a:xfrm>
              <a:off x="79475" y="3655375"/>
              <a:ext cx="1721848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0" dirty="0">
                  <a:solidFill>
                    <a:schemeClr val="bg1"/>
                  </a:solidFill>
                  <a:latin typeface="Cambria"/>
                  <a:ea typeface="Cambria"/>
                </a:rPr>
                <a:t>Motivation</a:t>
              </a:r>
              <a:endParaRPr lang="en-US" sz="2400" dirty="0">
                <a:solidFill>
                  <a:schemeClr val="bg1"/>
                </a:solidFill>
                <a:latin typeface="Cambria"/>
                <a:ea typeface="Cambria"/>
              </a:endParaRPr>
            </a:p>
          </p:txBody>
        </p:sp>
        <p:sp>
          <p:nvSpPr>
            <p:cNvPr id="37" name="object 10">
              <a:extLst>
                <a:ext uri="{FF2B5EF4-FFF2-40B4-BE49-F238E27FC236}">
                  <a16:creationId xmlns:a16="http://schemas.microsoft.com/office/drawing/2014/main" id="{59F07FD0-E51D-2E85-EDD1-4C37141E4702}"/>
                </a:ext>
              </a:extLst>
            </p:cNvPr>
            <p:cNvSpPr txBox="1"/>
            <p:nvPr/>
          </p:nvSpPr>
          <p:spPr>
            <a:xfrm>
              <a:off x="77006" y="4569332"/>
              <a:ext cx="2541904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60" dirty="0">
                  <a:solidFill>
                    <a:srgbClr val="FFFFFF"/>
                  </a:solidFill>
                  <a:latin typeface="Cambria"/>
                  <a:cs typeface="Cambria"/>
                </a:rPr>
                <a:t>Literature</a:t>
              </a:r>
              <a:r>
                <a:rPr sz="2400" spc="-65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2400" spc="-30" dirty="0">
                  <a:solidFill>
                    <a:srgbClr val="FFFFFF"/>
                  </a:solidFill>
                  <a:latin typeface="Cambria"/>
                  <a:cs typeface="Cambria"/>
                </a:rPr>
                <a:t>Survey</a:t>
              </a:r>
              <a:endParaRPr sz="2400" dirty="0">
                <a:latin typeface="Cambria"/>
                <a:cs typeface="Cambria"/>
              </a:endParaRPr>
            </a:p>
          </p:txBody>
        </p:sp>
        <p:sp>
          <p:nvSpPr>
            <p:cNvPr id="38" name="object 12">
              <a:extLst>
                <a:ext uri="{FF2B5EF4-FFF2-40B4-BE49-F238E27FC236}">
                  <a16:creationId xmlns:a16="http://schemas.microsoft.com/office/drawing/2014/main" id="{103ABEAD-4269-FC1B-17CA-5B5FBEA16057}"/>
                </a:ext>
              </a:extLst>
            </p:cNvPr>
            <p:cNvSpPr txBox="1"/>
            <p:nvPr/>
          </p:nvSpPr>
          <p:spPr>
            <a:xfrm>
              <a:off x="91753" y="5373260"/>
              <a:ext cx="254190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6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Research Gaps</a:t>
              </a:r>
            </a:p>
          </p:txBody>
        </p:sp>
        <p:sp>
          <p:nvSpPr>
            <p:cNvPr id="40" name="object 13">
              <a:extLst>
                <a:ext uri="{FF2B5EF4-FFF2-40B4-BE49-F238E27FC236}">
                  <a16:creationId xmlns:a16="http://schemas.microsoft.com/office/drawing/2014/main" id="{63E750B0-D9E3-AEB1-28C4-8F295EB9F12E}"/>
                </a:ext>
              </a:extLst>
            </p:cNvPr>
            <p:cNvSpPr txBox="1"/>
            <p:nvPr/>
          </p:nvSpPr>
          <p:spPr>
            <a:xfrm>
              <a:off x="91753" y="5794343"/>
              <a:ext cx="136144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5" dirty="0">
                  <a:solidFill>
                    <a:srgbClr val="FFFFFF"/>
                  </a:solidFill>
                  <a:latin typeface="Cambria"/>
                </a:rPr>
                <a:t>Objectives</a:t>
              </a:r>
              <a:endParaRPr sz="24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A6AC07E-1EA9-02E0-888D-14C4D480F414}"/>
                </a:ext>
              </a:extLst>
            </p:cNvPr>
            <p:cNvSpPr txBox="1"/>
            <p:nvPr/>
          </p:nvSpPr>
          <p:spPr>
            <a:xfrm>
              <a:off x="40135" y="6603152"/>
              <a:ext cx="24030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spc="-4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References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0F047A3-0AE4-0983-12AD-BEC02DDB4D82}"/>
              </a:ext>
            </a:extLst>
          </p:cNvPr>
          <p:cNvSpPr txBox="1"/>
          <p:nvPr/>
        </p:nvSpPr>
        <p:spPr>
          <a:xfrm>
            <a:off x="7441791" y="9287581"/>
            <a:ext cx="9195618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r>
              <a:rPr lang="en-US" sz="20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PISA: PORTABLE IOT SECURITY ASSESSMENT PLATFORM</a:t>
            </a:r>
          </a:p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endParaRPr lang="en-US" sz="4400" b="1" dirty="0">
              <a:solidFill>
                <a:schemeClr val="bg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6EE144-4F61-E30E-9B62-9B05648C22E4}"/>
              </a:ext>
            </a:extLst>
          </p:cNvPr>
          <p:cNvSpPr txBox="1"/>
          <p:nvPr/>
        </p:nvSpPr>
        <p:spPr>
          <a:xfrm>
            <a:off x="3469783" y="5751700"/>
            <a:ext cx="4517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 err="1">
                <a:solidFill>
                  <a:srgbClr val="99124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WiFi</a:t>
            </a:r>
            <a:r>
              <a:rPr lang="en-IN" sz="2400" b="1" dirty="0">
                <a:solidFill>
                  <a:srgbClr val="99124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Infrastructure Exposure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D131E7-80F8-24BF-D3D4-DABAB463A853}"/>
              </a:ext>
            </a:extLst>
          </p:cNvPr>
          <p:cNvSpPr txBox="1"/>
          <p:nvPr/>
        </p:nvSpPr>
        <p:spPr>
          <a:xfrm>
            <a:off x="3565607" y="6611136"/>
            <a:ext cx="4631033" cy="2567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100"/>
              </a:spcAft>
            </a:pPr>
            <a:r>
              <a:rPr lang="en-IN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40%+ routers: WPA2-TKIP / WPS 200+ active CVEs, no passive audit tool</a:t>
            </a:r>
          </a:p>
          <a:p>
            <a:pPr algn="just">
              <a:spcBef>
                <a:spcPts val="400"/>
              </a:spcBef>
              <a:spcAft>
                <a:spcPts val="100"/>
              </a:spcAft>
            </a:pPr>
            <a:endParaRPr lang="en-IN" sz="20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100"/>
              </a:spcAft>
            </a:pPr>
            <a:endParaRPr lang="en-IN" sz="20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100"/>
              </a:spcAft>
            </a:pPr>
            <a:endParaRPr lang="en-IN" sz="20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200"/>
              </a:spcBef>
              <a:spcAft>
                <a:spcPts val="100"/>
              </a:spcAft>
            </a:pPr>
            <a:endParaRPr lang="en-IN" sz="20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100"/>
              </a:spcAft>
            </a:pPr>
            <a:endParaRPr lang="en-IN" sz="20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FFABA6-0672-387A-27ED-FEAE0BA6C957}"/>
              </a:ext>
            </a:extLst>
          </p:cNvPr>
          <p:cNvSpPr txBox="1"/>
          <p:nvPr/>
        </p:nvSpPr>
        <p:spPr>
          <a:xfrm>
            <a:off x="8270383" y="5751700"/>
            <a:ext cx="4517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99124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Unprotected Device Services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73FC19-B042-89FB-8FB9-52FF9376E6E1}"/>
              </a:ext>
            </a:extLst>
          </p:cNvPr>
          <p:cNvSpPr txBox="1"/>
          <p:nvPr/>
        </p:nvSpPr>
        <p:spPr>
          <a:xfrm>
            <a:off x="8339167" y="6651454"/>
            <a:ext cx="4800600" cy="2567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lang="en-IN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MQTT, CoAP, RTSP — unauthenticated &amp; plaintext by default [Alrawi, 2020]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endParaRPr lang="en-IN" sz="20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endParaRPr lang="en-IN" sz="20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endParaRPr lang="en-IN" sz="20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200"/>
              </a:spcBef>
              <a:spcAft>
                <a:spcPts val="100"/>
              </a:spcAft>
            </a:pPr>
            <a:endParaRPr lang="en-IN" sz="20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600"/>
              </a:spcBef>
              <a:spcAft>
                <a:spcPts val="100"/>
              </a:spcAft>
            </a:pPr>
            <a:endParaRPr lang="en-IN" sz="20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1CED1F-4599-9A77-403B-46E110396DED}"/>
              </a:ext>
            </a:extLst>
          </p:cNvPr>
          <p:cNvSpPr txBox="1"/>
          <p:nvPr/>
        </p:nvSpPr>
        <p:spPr>
          <a:xfrm>
            <a:off x="13070982" y="5751700"/>
            <a:ext cx="5217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99124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Fragmented Assessment Toolchain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947A75-6BE7-D4BA-EE38-C3AFF3F4CFCC}"/>
              </a:ext>
            </a:extLst>
          </p:cNvPr>
          <p:cNvSpPr txBox="1"/>
          <p:nvPr/>
        </p:nvSpPr>
        <p:spPr>
          <a:xfrm>
            <a:off x="13239005" y="6582697"/>
            <a:ext cx="4928616" cy="2567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  <a:spcAft>
                <a:spcPts val="100"/>
              </a:spcAft>
            </a:pPr>
            <a:r>
              <a:rPr lang="en-IN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Nmap + Bettercap + RouterSploit + NVD 4 tools, no unified portable solution</a:t>
            </a:r>
          </a:p>
          <a:p>
            <a:pPr algn="just">
              <a:spcBef>
                <a:spcPts val="400"/>
              </a:spcBef>
              <a:spcAft>
                <a:spcPts val="100"/>
              </a:spcAft>
            </a:pPr>
            <a:endParaRPr lang="en-IN" sz="20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100"/>
              </a:spcAft>
            </a:pPr>
            <a:endParaRPr lang="en-IN" sz="20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00"/>
              </a:spcBef>
              <a:spcAft>
                <a:spcPts val="100"/>
              </a:spcAft>
            </a:pPr>
            <a:endParaRPr lang="en-IN" sz="20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200"/>
              </a:spcBef>
              <a:spcAft>
                <a:spcPts val="100"/>
              </a:spcAft>
            </a:pPr>
            <a:endParaRPr lang="en-IN" sz="20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100"/>
              </a:spcAft>
            </a:pPr>
            <a:endParaRPr lang="en-IN" sz="20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993FC7-BB7E-019A-09A2-F376C882A14C}"/>
              </a:ext>
            </a:extLst>
          </p:cNvPr>
          <p:cNvSpPr txBox="1"/>
          <p:nvPr/>
        </p:nvSpPr>
        <p:spPr>
          <a:xfrm>
            <a:off x="10668000" y="9905545"/>
            <a:ext cx="487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PINNEMCHARLA SAI VIVEK REDDY  |  CH.SC.U4CYS23034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1F2CD-6F31-E7DB-D23F-50476ED1C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11AF872-2578-04F9-2D55-DE13A1CDF7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spcBef>
                <a:spcPts val="100"/>
              </a:spcBef>
            </a:pPr>
            <a:r>
              <a:rPr lang="en-US" spc="-40" dirty="0">
                <a:solidFill>
                  <a:srgbClr val="A3123F"/>
                </a:solidFill>
                <a:latin typeface="Georgia"/>
              </a:rPr>
              <a:t>Literature Survey</a:t>
            </a:r>
            <a:endParaRPr lang="en-US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4A282AE-6220-F5AE-4727-97F28B0394D3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60924D8-ED53-0CA0-3F4B-C78620E3A620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419529C-4A29-8876-E273-0450C130DA4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66DEE14-C79B-EB1E-33F3-CA216C3147D0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00156DB-3C1A-CC64-1D4A-2C1A3150729E}"/>
              </a:ext>
            </a:extLst>
          </p:cNvPr>
          <p:cNvGrpSpPr/>
          <p:nvPr/>
        </p:nvGrpSpPr>
        <p:grpSpPr>
          <a:xfrm>
            <a:off x="40135" y="3655375"/>
            <a:ext cx="3192964" cy="3409442"/>
            <a:chOff x="40135" y="3655375"/>
            <a:chExt cx="3192964" cy="3409442"/>
          </a:xfrm>
        </p:grpSpPr>
        <p:sp>
          <p:nvSpPr>
            <p:cNvPr id="37" name="object 11">
              <a:extLst>
                <a:ext uri="{FF2B5EF4-FFF2-40B4-BE49-F238E27FC236}">
                  <a16:creationId xmlns:a16="http://schemas.microsoft.com/office/drawing/2014/main" id="{C6756ADC-09D3-5E07-422D-B66032E5BF7D}"/>
                </a:ext>
              </a:extLst>
            </p:cNvPr>
            <p:cNvSpPr txBox="1"/>
            <p:nvPr/>
          </p:nvSpPr>
          <p:spPr>
            <a:xfrm>
              <a:off x="79826" y="4967610"/>
              <a:ext cx="282538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b="1" spc="-50" dirty="0">
                  <a:solidFill>
                    <a:srgbClr val="FFC000"/>
                  </a:solidFill>
                  <a:latin typeface="Cambria"/>
                  <a:ea typeface="Cambria"/>
                  <a:cs typeface="Cambria"/>
                </a:rPr>
                <a:t>Literature Search</a:t>
              </a:r>
              <a:endParaRPr sz="2400" b="1" spc="-50" dirty="0">
                <a:solidFill>
                  <a:srgbClr val="FFC000"/>
                </a:solidFill>
                <a:latin typeface="Cambria"/>
                <a:cs typeface="Cambria"/>
              </a:endParaRPr>
            </a:p>
          </p:txBody>
        </p:sp>
        <p:sp>
          <p:nvSpPr>
            <p:cNvPr id="38" name="object 14">
              <a:extLst>
                <a:ext uri="{FF2B5EF4-FFF2-40B4-BE49-F238E27FC236}">
                  <a16:creationId xmlns:a16="http://schemas.microsoft.com/office/drawing/2014/main" id="{4A053074-1A09-1568-4120-C4FBB2AD9C30}"/>
                </a:ext>
              </a:extLst>
            </p:cNvPr>
            <p:cNvSpPr txBox="1"/>
            <p:nvPr/>
          </p:nvSpPr>
          <p:spPr>
            <a:xfrm>
              <a:off x="91753" y="6237920"/>
              <a:ext cx="3141346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</a:rPr>
                <a:t>Architecture Diagram</a:t>
              </a:r>
              <a:endParaRPr sz="2400" dirty="0"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E97FE3ED-4AC6-411A-ED49-7CDA2CC61A33}"/>
                </a:ext>
              </a:extLst>
            </p:cNvPr>
            <p:cNvSpPr txBox="1"/>
            <p:nvPr/>
          </p:nvSpPr>
          <p:spPr>
            <a:xfrm>
              <a:off x="74559" y="4077070"/>
              <a:ext cx="245745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5" dirty="0">
                  <a:solidFill>
                    <a:schemeClr val="bg1"/>
                  </a:solidFill>
                  <a:latin typeface="Cambria"/>
                  <a:cs typeface="Cambria"/>
                </a:rPr>
                <a:t>Problem</a:t>
              </a:r>
              <a:r>
                <a:rPr sz="2400" spc="-6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400" spc="-45" dirty="0">
                  <a:solidFill>
                    <a:schemeClr val="bg1"/>
                  </a:solidFill>
                  <a:latin typeface="Cambria"/>
                  <a:cs typeface="Cambria"/>
                </a:rPr>
                <a:t>Statement</a:t>
              </a:r>
              <a:endParaRPr sz="2400" dirty="0">
                <a:solidFill>
                  <a:schemeClr val="bg1"/>
                </a:solidFill>
                <a:latin typeface="Cambria"/>
                <a:cs typeface="Cambria"/>
              </a:endParaRPr>
            </a:p>
          </p:txBody>
        </p:sp>
        <p:sp>
          <p:nvSpPr>
            <p:cNvPr id="40" name="object 9">
              <a:extLst>
                <a:ext uri="{FF2B5EF4-FFF2-40B4-BE49-F238E27FC236}">
                  <a16:creationId xmlns:a16="http://schemas.microsoft.com/office/drawing/2014/main" id="{332D7F51-69CB-7D83-9B89-03E810940BA0}"/>
                </a:ext>
              </a:extLst>
            </p:cNvPr>
            <p:cNvSpPr txBox="1"/>
            <p:nvPr/>
          </p:nvSpPr>
          <p:spPr>
            <a:xfrm>
              <a:off x="79475" y="3655375"/>
              <a:ext cx="1721848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0" dirty="0">
                  <a:solidFill>
                    <a:schemeClr val="bg1"/>
                  </a:solidFill>
                  <a:latin typeface="Cambria"/>
                  <a:ea typeface="Cambria"/>
                </a:rPr>
                <a:t>Motivation</a:t>
              </a:r>
              <a:endParaRPr lang="en-US" sz="2400" dirty="0">
                <a:solidFill>
                  <a:schemeClr val="bg1"/>
                </a:solidFill>
                <a:latin typeface="Cambria"/>
                <a:ea typeface="Cambria"/>
              </a:endParaRPr>
            </a:p>
          </p:txBody>
        </p:sp>
        <p:sp>
          <p:nvSpPr>
            <p:cNvPr id="41" name="object 10">
              <a:extLst>
                <a:ext uri="{FF2B5EF4-FFF2-40B4-BE49-F238E27FC236}">
                  <a16:creationId xmlns:a16="http://schemas.microsoft.com/office/drawing/2014/main" id="{98C33BBC-121E-52B7-E98C-5D8C758AB5CD}"/>
                </a:ext>
              </a:extLst>
            </p:cNvPr>
            <p:cNvSpPr txBox="1"/>
            <p:nvPr/>
          </p:nvSpPr>
          <p:spPr>
            <a:xfrm>
              <a:off x="77006" y="4569332"/>
              <a:ext cx="2541904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60" dirty="0">
                  <a:solidFill>
                    <a:srgbClr val="FFFFFF"/>
                  </a:solidFill>
                  <a:latin typeface="Cambria"/>
                  <a:cs typeface="Cambria"/>
                </a:rPr>
                <a:t>Literature</a:t>
              </a:r>
              <a:r>
                <a:rPr sz="2400" spc="-65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2400" spc="-30" dirty="0">
                  <a:solidFill>
                    <a:srgbClr val="FFFFFF"/>
                  </a:solidFill>
                  <a:latin typeface="Cambria"/>
                  <a:cs typeface="Cambria"/>
                </a:rPr>
                <a:t>Survey</a:t>
              </a:r>
              <a:endParaRPr sz="2400" dirty="0">
                <a:latin typeface="Cambria"/>
                <a:cs typeface="Cambria"/>
              </a:endParaRPr>
            </a:p>
          </p:txBody>
        </p:sp>
        <p:sp>
          <p:nvSpPr>
            <p:cNvPr id="42" name="object 12">
              <a:extLst>
                <a:ext uri="{FF2B5EF4-FFF2-40B4-BE49-F238E27FC236}">
                  <a16:creationId xmlns:a16="http://schemas.microsoft.com/office/drawing/2014/main" id="{6008DE99-D455-889C-6949-99FF93A7CADA}"/>
                </a:ext>
              </a:extLst>
            </p:cNvPr>
            <p:cNvSpPr txBox="1"/>
            <p:nvPr/>
          </p:nvSpPr>
          <p:spPr>
            <a:xfrm>
              <a:off x="91753" y="5373260"/>
              <a:ext cx="254190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6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Research Gaps</a:t>
              </a:r>
            </a:p>
          </p:txBody>
        </p:sp>
        <p:sp>
          <p:nvSpPr>
            <p:cNvPr id="43" name="object 13">
              <a:extLst>
                <a:ext uri="{FF2B5EF4-FFF2-40B4-BE49-F238E27FC236}">
                  <a16:creationId xmlns:a16="http://schemas.microsoft.com/office/drawing/2014/main" id="{FAF9D22F-5D2F-FEB1-1EBD-9DE58E240B78}"/>
                </a:ext>
              </a:extLst>
            </p:cNvPr>
            <p:cNvSpPr txBox="1"/>
            <p:nvPr/>
          </p:nvSpPr>
          <p:spPr>
            <a:xfrm>
              <a:off x="91753" y="5794343"/>
              <a:ext cx="136144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5" dirty="0">
                  <a:solidFill>
                    <a:srgbClr val="FFFFFF"/>
                  </a:solidFill>
                  <a:latin typeface="Cambria"/>
                </a:rPr>
                <a:t>Objectives</a:t>
              </a:r>
              <a:endParaRPr sz="24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63DB83E-1E7B-4C7F-23D6-14F6C70F9341}"/>
                </a:ext>
              </a:extLst>
            </p:cNvPr>
            <p:cNvSpPr txBox="1"/>
            <p:nvPr/>
          </p:nvSpPr>
          <p:spPr>
            <a:xfrm>
              <a:off x="40135" y="6603152"/>
              <a:ext cx="24030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spc="-4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References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7" name="Chart 46">
            <a:extLst>
              <a:ext uri="{FF2B5EF4-FFF2-40B4-BE49-F238E27FC236}">
                <a16:creationId xmlns:a16="http://schemas.microsoft.com/office/drawing/2014/main" id="{F25EAEBA-2089-7EB3-ABCA-0244302DBC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62131"/>
              </p:ext>
            </p:extLst>
          </p:nvPr>
        </p:nvGraphicFramePr>
        <p:xfrm>
          <a:off x="9296400" y="2384041"/>
          <a:ext cx="9448800" cy="5632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70B8F16-F83E-F456-192C-DE2A7B62BC7B}"/>
              </a:ext>
            </a:extLst>
          </p:cNvPr>
          <p:cNvSpPr txBox="1"/>
          <p:nvPr/>
        </p:nvSpPr>
        <p:spPr>
          <a:xfrm>
            <a:off x="7441791" y="9287581"/>
            <a:ext cx="9195618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r>
              <a:rPr lang="en-US" sz="20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PISA: PORTABLE IOT SECURITY ASSESSMENT PLATFORM</a:t>
            </a:r>
          </a:p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endParaRPr lang="en-US" sz="4400" b="1" dirty="0">
              <a:solidFill>
                <a:schemeClr val="bg1"/>
              </a:solidFill>
              <a:latin typeface="Cambria"/>
              <a:ea typeface="Cambria"/>
              <a:cs typeface="Cambria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8598919-3ECD-C106-6689-EF9A6DD34F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8592635"/>
              </p:ext>
            </p:extLst>
          </p:nvPr>
        </p:nvGraphicFramePr>
        <p:xfrm>
          <a:off x="3612439" y="2106564"/>
          <a:ext cx="7219315" cy="6686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B755A46-6DF3-B5FD-02DC-78722937DE25}"/>
              </a:ext>
            </a:extLst>
          </p:cNvPr>
          <p:cNvSpPr txBox="1"/>
          <p:nvPr/>
        </p:nvSpPr>
        <p:spPr>
          <a:xfrm>
            <a:off x="10668000" y="9905545"/>
            <a:ext cx="487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PINNEMCHARLA SAI VIVEK REDDY  |  CH.SC.U4CYS23034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1422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0B48-EC80-2DC0-CCEB-79E93F5BB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3443638A-CE81-90BE-1000-D8B0E45806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spcBef>
                <a:spcPts val="100"/>
              </a:spcBef>
            </a:pPr>
            <a:r>
              <a:rPr lang="en-US" spc="-40" dirty="0">
                <a:solidFill>
                  <a:srgbClr val="A3123F"/>
                </a:solidFill>
                <a:latin typeface="Georgia"/>
              </a:rPr>
              <a:t>Literature Survey</a:t>
            </a:r>
            <a:endParaRPr lang="en-US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9FB0EF7-3195-C5FC-B5AF-C518394E3C27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8113E6B-7222-0296-F200-9FC24C1E2390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591AE7B-F80C-68D0-6D91-66D863FD88A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7E82490-6107-1A2E-7254-A3F5CEEEC0D9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CDF9920-96D3-66D3-D313-F6B29A3F16CA}"/>
              </a:ext>
            </a:extLst>
          </p:cNvPr>
          <p:cNvGrpSpPr/>
          <p:nvPr/>
        </p:nvGrpSpPr>
        <p:grpSpPr>
          <a:xfrm>
            <a:off x="40135" y="3655375"/>
            <a:ext cx="3192964" cy="3409442"/>
            <a:chOff x="40135" y="3655375"/>
            <a:chExt cx="3192964" cy="3409442"/>
          </a:xfrm>
        </p:grpSpPr>
        <p:sp>
          <p:nvSpPr>
            <p:cNvPr id="33" name="object 11">
              <a:extLst>
                <a:ext uri="{FF2B5EF4-FFF2-40B4-BE49-F238E27FC236}">
                  <a16:creationId xmlns:a16="http://schemas.microsoft.com/office/drawing/2014/main" id="{38856180-DF4A-6A8C-9264-888660CAA09C}"/>
                </a:ext>
              </a:extLst>
            </p:cNvPr>
            <p:cNvSpPr txBox="1"/>
            <p:nvPr/>
          </p:nvSpPr>
          <p:spPr>
            <a:xfrm>
              <a:off x="79826" y="4967610"/>
              <a:ext cx="282538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Literature Search</a:t>
              </a:r>
              <a:endParaRPr sz="2400" spc="-50" dirty="0">
                <a:solidFill>
                  <a:srgbClr val="FFFFFF"/>
                </a:solidFill>
                <a:latin typeface="Cambria"/>
                <a:cs typeface="Cambria"/>
              </a:endParaRPr>
            </a:p>
          </p:txBody>
        </p:sp>
        <p:sp>
          <p:nvSpPr>
            <p:cNvPr id="34" name="object 14">
              <a:extLst>
                <a:ext uri="{FF2B5EF4-FFF2-40B4-BE49-F238E27FC236}">
                  <a16:creationId xmlns:a16="http://schemas.microsoft.com/office/drawing/2014/main" id="{4A39AE57-1B02-4E38-A165-7EFD21731567}"/>
                </a:ext>
              </a:extLst>
            </p:cNvPr>
            <p:cNvSpPr txBox="1"/>
            <p:nvPr/>
          </p:nvSpPr>
          <p:spPr>
            <a:xfrm>
              <a:off x="91753" y="6237920"/>
              <a:ext cx="3141346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</a:rPr>
                <a:t>Architecture Diagram</a:t>
              </a:r>
              <a:endParaRPr sz="2400" dirty="0"/>
            </a:p>
          </p:txBody>
        </p:sp>
        <p:sp>
          <p:nvSpPr>
            <p:cNvPr id="35" name="object 7">
              <a:extLst>
                <a:ext uri="{FF2B5EF4-FFF2-40B4-BE49-F238E27FC236}">
                  <a16:creationId xmlns:a16="http://schemas.microsoft.com/office/drawing/2014/main" id="{AACA93E7-DD00-6E7F-B142-553BD0823A49}"/>
                </a:ext>
              </a:extLst>
            </p:cNvPr>
            <p:cNvSpPr txBox="1"/>
            <p:nvPr/>
          </p:nvSpPr>
          <p:spPr>
            <a:xfrm>
              <a:off x="74559" y="4077070"/>
              <a:ext cx="245745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5" dirty="0">
                  <a:solidFill>
                    <a:schemeClr val="bg1"/>
                  </a:solidFill>
                  <a:latin typeface="Cambria"/>
                  <a:cs typeface="Cambria"/>
                </a:rPr>
                <a:t>Problem</a:t>
              </a:r>
              <a:r>
                <a:rPr sz="2400" spc="-6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400" spc="-45" dirty="0">
                  <a:solidFill>
                    <a:schemeClr val="bg1"/>
                  </a:solidFill>
                  <a:latin typeface="Cambria"/>
                  <a:cs typeface="Cambria"/>
                </a:rPr>
                <a:t>Statement</a:t>
              </a:r>
              <a:endParaRPr sz="2400" dirty="0">
                <a:solidFill>
                  <a:schemeClr val="bg1"/>
                </a:solidFill>
                <a:latin typeface="Cambria"/>
                <a:cs typeface="Cambria"/>
              </a:endParaRPr>
            </a:p>
          </p:txBody>
        </p:sp>
        <p:sp>
          <p:nvSpPr>
            <p:cNvPr id="36" name="object 9">
              <a:extLst>
                <a:ext uri="{FF2B5EF4-FFF2-40B4-BE49-F238E27FC236}">
                  <a16:creationId xmlns:a16="http://schemas.microsoft.com/office/drawing/2014/main" id="{D4B78C81-4B66-8D18-52D9-32245E8D549D}"/>
                </a:ext>
              </a:extLst>
            </p:cNvPr>
            <p:cNvSpPr txBox="1"/>
            <p:nvPr/>
          </p:nvSpPr>
          <p:spPr>
            <a:xfrm>
              <a:off x="79475" y="3655375"/>
              <a:ext cx="1721848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0" dirty="0">
                  <a:solidFill>
                    <a:schemeClr val="bg1"/>
                  </a:solidFill>
                  <a:latin typeface="Cambria"/>
                  <a:ea typeface="Cambria"/>
                </a:rPr>
                <a:t>Motivation</a:t>
              </a:r>
              <a:endParaRPr lang="en-US" sz="2400" dirty="0">
                <a:solidFill>
                  <a:schemeClr val="bg1"/>
                </a:solidFill>
                <a:latin typeface="Cambria"/>
                <a:ea typeface="Cambria"/>
              </a:endParaRPr>
            </a:p>
          </p:txBody>
        </p:sp>
        <p:sp>
          <p:nvSpPr>
            <p:cNvPr id="37" name="object 10">
              <a:extLst>
                <a:ext uri="{FF2B5EF4-FFF2-40B4-BE49-F238E27FC236}">
                  <a16:creationId xmlns:a16="http://schemas.microsoft.com/office/drawing/2014/main" id="{9F323BF3-B008-C6AF-AB03-6C50915B57A2}"/>
                </a:ext>
              </a:extLst>
            </p:cNvPr>
            <p:cNvSpPr txBox="1"/>
            <p:nvPr/>
          </p:nvSpPr>
          <p:spPr>
            <a:xfrm>
              <a:off x="77006" y="4569332"/>
              <a:ext cx="2541904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b="1" spc="-60" dirty="0">
                  <a:solidFill>
                    <a:srgbClr val="FFC000"/>
                  </a:solidFill>
                  <a:latin typeface="Cambria"/>
                  <a:cs typeface="Cambria"/>
                </a:rPr>
                <a:t>Literature</a:t>
              </a:r>
              <a:r>
                <a:rPr sz="2400" b="1" spc="-65" dirty="0">
                  <a:solidFill>
                    <a:srgbClr val="FFC000"/>
                  </a:solidFill>
                  <a:latin typeface="Cambria"/>
                  <a:cs typeface="Cambria"/>
                </a:rPr>
                <a:t> </a:t>
              </a:r>
              <a:r>
                <a:rPr sz="2400" b="1" spc="-30" dirty="0">
                  <a:solidFill>
                    <a:srgbClr val="FFC000"/>
                  </a:solidFill>
                  <a:latin typeface="Cambria"/>
                  <a:cs typeface="Cambria"/>
                </a:rPr>
                <a:t>Survey</a:t>
              </a:r>
              <a:endParaRPr sz="2400" b="1" dirty="0">
                <a:solidFill>
                  <a:srgbClr val="FFC000"/>
                </a:solidFill>
                <a:latin typeface="Cambria"/>
                <a:cs typeface="Cambria"/>
              </a:endParaRPr>
            </a:p>
          </p:txBody>
        </p:sp>
        <p:sp>
          <p:nvSpPr>
            <p:cNvPr id="38" name="object 12">
              <a:extLst>
                <a:ext uri="{FF2B5EF4-FFF2-40B4-BE49-F238E27FC236}">
                  <a16:creationId xmlns:a16="http://schemas.microsoft.com/office/drawing/2014/main" id="{7D7862F0-5206-26C0-8976-F666BF5615CE}"/>
                </a:ext>
              </a:extLst>
            </p:cNvPr>
            <p:cNvSpPr txBox="1"/>
            <p:nvPr/>
          </p:nvSpPr>
          <p:spPr>
            <a:xfrm>
              <a:off x="91753" y="5373260"/>
              <a:ext cx="254190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6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Research Gaps</a:t>
              </a:r>
            </a:p>
          </p:txBody>
        </p:sp>
        <p:sp>
          <p:nvSpPr>
            <p:cNvPr id="39" name="object 13">
              <a:extLst>
                <a:ext uri="{FF2B5EF4-FFF2-40B4-BE49-F238E27FC236}">
                  <a16:creationId xmlns:a16="http://schemas.microsoft.com/office/drawing/2014/main" id="{519D1209-E29F-F213-1A50-78ED32104C05}"/>
                </a:ext>
              </a:extLst>
            </p:cNvPr>
            <p:cNvSpPr txBox="1"/>
            <p:nvPr/>
          </p:nvSpPr>
          <p:spPr>
            <a:xfrm>
              <a:off x="91753" y="5794343"/>
              <a:ext cx="136144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5" dirty="0">
                  <a:solidFill>
                    <a:srgbClr val="FFFFFF"/>
                  </a:solidFill>
                  <a:latin typeface="Cambria"/>
                </a:rPr>
                <a:t>Objectives</a:t>
              </a:r>
              <a:endParaRPr sz="24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9E691F-EB2C-1124-624B-F801F73C3155}"/>
                </a:ext>
              </a:extLst>
            </p:cNvPr>
            <p:cNvSpPr txBox="1"/>
            <p:nvPr/>
          </p:nvSpPr>
          <p:spPr>
            <a:xfrm>
              <a:off x="40135" y="6603152"/>
              <a:ext cx="24030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spc="-4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References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85FCE41-6415-E9FD-D5FB-49BBEDEF8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000723"/>
              </p:ext>
            </p:extLst>
          </p:nvPr>
        </p:nvGraphicFramePr>
        <p:xfrm>
          <a:off x="3572433" y="2006964"/>
          <a:ext cx="14439359" cy="6829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0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2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1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1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85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3823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99124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99124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99124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(Short)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99124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99124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WiFi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99124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99124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PISA Advantage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823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Vanhoef &amp; Ronen 2020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Dragonblood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WPA3 SAE Handshake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S&amp;P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PISA passively detects WPA3 downgrade via beacon; Dragonblood requires active attack setup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823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Sense of Security on Protected Wi-Fi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PISA WSPS grades beacon-advertised vs actual security mismatch — exactly this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823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Al-Sinani et al. 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WiFiPenTester: GenAI Wireless Pen 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arXiv/Royal Holloway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PISA ML-free + portable RPi; WiFiPenTester = cloud LLM inference dependent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823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Durumeric et al. 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 Years of ZMap: Internet-Wide Scanning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ACM IMC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PISA discovers LAN devices behind NAT; ZMap = internet-routable hosts only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823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Trimananda et al. 2020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PingPong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Packet-Level Non-ML Signatures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NDSS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PISA active protocol probing + CVE pipeline; 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PingPong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passive packet-lengths only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5C060B1-C8FA-B822-CE2B-D446E598E043}"/>
              </a:ext>
            </a:extLst>
          </p:cNvPr>
          <p:cNvSpPr txBox="1"/>
          <p:nvPr/>
        </p:nvSpPr>
        <p:spPr>
          <a:xfrm>
            <a:off x="7441791" y="9287581"/>
            <a:ext cx="9195618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r>
              <a:rPr lang="en-US" sz="20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PISA: PORTABLE IOT SECURITY ASSESSMENT PLATFORM</a:t>
            </a:r>
          </a:p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endParaRPr lang="en-US" sz="4400" b="1" dirty="0">
              <a:solidFill>
                <a:schemeClr val="bg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4B28D1-839C-4679-9CE8-6B85E8F85E99}"/>
              </a:ext>
            </a:extLst>
          </p:cNvPr>
          <p:cNvSpPr txBox="1"/>
          <p:nvPr/>
        </p:nvSpPr>
        <p:spPr>
          <a:xfrm>
            <a:off x="10668000" y="9905545"/>
            <a:ext cx="487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PINNEMCHARLA SAI VIVEK REDDY  |  CH.SC.U4CYS23034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7002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7836C-0B47-4D7D-D364-424F7B695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38400E4-F706-F319-BB4D-E472636D87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spcBef>
                <a:spcPts val="100"/>
              </a:spcBef>
            </a:pPr>
            <a:r>
              <a:rPr lang="en-US" spc="-40">
                <a:solidFill>
                  <a:srgbClr val="A3123F"/>
                </a:solidFill>
                <a:latin typeface="Georgia"/>
              </a:rPr>
              <a:t>Literature Survey</a:t>
            </a:r>
            <a:endParaRPr lang="en-US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5F3DD91-0C16-63A4-F6F1-0A2F0FD94718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9EF2AB9-EA14-AF29-27DF-A830DD050AAD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EC1242B2-04D6-385D-81C8-F2FE5CC0383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4C09DF1-8F73-7F81-D12D-97BCDEF4C4BE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48C5796-3667-D706-A786-703DABC6F5F7}"/>
              </a:ext>
            </a:extLst>
          </p:cNvPr>
          <p:cNvGrpSpPr/>
          <p:nvPr/>
        </p:nvGrpSpPr>
        <p:grpSpPr>
          <a:xfrm>
            <a:off x="40135" y="3655375"/>
            <a:ext cx="3192964" cy="3409442"/>
            <a:chOff x="40135" y="3655375"/>
            <a:chExt cx="3192964" cy="3409442"/>
          </a:xfrm>
        </p:grpSpPr>
        <p:sp>
          <p:nvSpPr>
            <p:cNvPr id="33" name="object 11">
              <a:extLst>
                <a:ext uri="{FF2B5EF4-FFF2-40B4-BE49-F238E27FC236}">
                  <a16:creationId xmlns:a16="http://schemas.microsoft.com/office/drawing/2014/main" id="{DC15B35F-EBED-2C44-CBF9-12E389EFB100}"/>
                </a:ext>
              </a:extLst>
            </p:cNvPr>
            <p:cNvSpPr txBox="1"/>
            <p:nvPr/>
          </p:nvSpPr>
          <p:spPr>
            <a:xfrm>
              <a:off x="79826" y="4967610"/>
              <a:ext cx="282538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Literature Search</a:t>
              </a:r>
              <a:endParaRPr sz="2400" spc="-50" dirty="0">
                <a:solidFill>
                  <a:srgbClr val="FFFFFF"/>
                </a:solidFill>
                <a:latin typeface="Cambria"/>
                <a:cs typeface="Cambria"/>
              </a:endParaRPr>
            </a:p>
          </p:txBody>
        </p:sp>
        <p:sp>
          <p:nvSpPr>
            <p:cNvPr id="34" name="object 14">
              <a:extLst>
                <a:ext uri="{FF2B5EF4-FFF2-40B4-BE49-F238E27FC236}">
                  <a16:creationId xmlns:a16="http://schemas.microsoft.com/office/drawing/2014/main" id="{FABF68EC-7424-F0B8-4776-26914B8DEE53}"/>
                </a:ext>
              </a:extLst>
            </p:cNvPr>
            <p:cNvSpPr txBox="1"/>
            <p:nvPr/>
          </p:nvSpPr>
          <p:spPr>
            <a:xfrm>
              <a:off x="91753" y="6237920"/>
              <a:ext cx="3141346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</a:rPr>
                <a:t>Architecture Diagram</a:t>
              </a:r>
              <a:endParaRPr sz="2400" dirty="0"/>
            </a:p>
          </p:txBody>
        </p:sp>
        <p:sp>
          <p:nvSpPr>
            <p:cNvPr id="35" name="object 7">
              <a:extLst>
                <a:ext uri="{FF2B5EF4-FFF2-40B4-BE49-F238E27FC236}">
                  <a16:creationId xmlns:a16="http://schemas.microsoft.com/office/drawing/2014/main" id="{F0E91BE5-545F-264C-0138-C7950B6FB69C}"/>
                </a:ext>
              </a:extLst>
            </p:cNvPr>
            <p:cNvSpPr txBox="1"/>
            <p:nvPr/>
          </p:nvSpPr>
          <p:spPr>
            <a:xfrm>
              <a:off x="74559" y="4077070"/>
              <a:ext cx="245745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5" dirty="0">
                  <a:solidFill>
                    <a:schemeClr val="bg1"/>
                  </a:solidFill>
                  <a:latin typeface="Cambria"/>
                  <a:cs typeface="Cambria"/>
                </a:rPr>
                <a:t>Problem</a:t>
              </a:r>
              <a:r>
                <a:rPr sz="2400" spc="-6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400" spc="-45" dirty="0">
                  <a:solidFill>
                    <a:schemeClr val="bg1"/>
                  </a:solidFill>
                  <a:latin typeface="Cambria"/>
                  <a:cs typeface="Cambria"/>
                </a:rPr>
                <a:t>Statement</a:t>
              </a:r>
              <a:endParaRPr sz="2400" dirty="0">
                <a:solidFill>
                  <a:schemeClr val="bg1"/>
                </a:solidFill>
                <a:latin typeface="Cambria"/>
                <a:cs typeface="Cambria"/>
              </a:endParaRPr>
            </a:p>
          </p:txBody>
        </p:sp>
        <p:sp>
          <p:nvSpPr>
            <p:cNvPr id="36" name="object 9">
              <a:extLst>
                <a:ext uri="{FF2B5EF4-FFF2-40B4-BE49-F238E27FC236}">
                  <a16:creationId xmlns:a16="http://schemas.microsoft.com/office/drawing/2014/main" id="{160177D5-5B0C-A729-C985-084175D2E406}"/>
                </a:ext>
              </a:extLst>
            </p:cNvPr>
            <p:cNvSpPr txBox="1"/>
            <p:nvPr/>
          </p:nvSpPr>
          <p:spPr>
            <a:xfrm>
              <a:off x="79475" y="3655375"/>
              <a:ext cx="1721848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0" dirty="0">
                  <a:solidFill>
                    <a:schemeClr val="bg1"/>
                  </a:solidFill>
                  <a:latin typeface="Cambria"/>
                  <a:ea typeface="Cambria"/>
                </a:rPr>
                <a:t>Motivation</a:t>
              </a:r>
              <a:endParaRPr lang="en-US" sz="2400" dirty="0">
                <a:solidFill>
                  <a:schemeClr val="bg1"/>
                </a:solidFill>
                <a:latin typeface="Cambria"/>
                <a:ea typeface="Cambria"/>
              </a:endParaRPr>
            </a:p>
          </p:txBody>
        </p:sp>
        <p:sp>
          <p:nvSpPr>
            <p:cNvPr id="37" name="object 10">
              <a:extLst>
                <a:ext uri="{FF2B5EF4-FFF2-40B4-BE49-F238E27FC236}">
                  <a16:creationId xmlns:a16="http://schemas.microsoft.com/office/drawing/2014/main" id="{D92B99BD-03D0-62A8-04CF-07FDBDB4ED7F}"/>
                </a:ext>
              </a:extLst>
            </p:cNvPr>
            <p:cNvSpPr txBox="1"/>
            <p:nvPr/>
          </p:nvSpPr>
          <p:spPr>
            <a:xfrm>
              <a:off x="77006" y="4569332"/>
              <a:ext cx="2541904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b="1" spc="-60" dirty="0">
                  <a:solidFill>
                    <a:srgbClr val="FFC000"/>
                  </a:solidFill>
                  <a:latin typeface="Cambria"/>
                  <a:cs typeface="Cambria"/>
                </a:rPr>
                <a:t>Literature</a:t>
              </a:r>
              <a:r>
                <a:rPr sz="2400" b="1" spc="-65" dirty="0">
                  <a:solidFill>
                    <a:srgbClr val="FFC000"/>
                  </a:solidFill>
                  <a:latin typeface="Cambria"/>
                  <a:cs typeface="Cambria"/>
                </a:rPr>
                <a:t> </a:t>
              </a:r>
              <a:r>
                <a:rPr sz="2400" b="1" spc="-30" dirty="0">
                  <a:solidFill>
                    <a:srgbClr val="FFC000"/>
                  </a:solidFill>
                  <a:latin typeface="Cambria"/>
                  <a:cs typeface="Cambria"/>
                </a:rPr>
                <a:t>Survey</a:t>
              </a:r>
              <a:endParaRPr sz="2400" b="1" dirty="0">
                <a:solidFill>
                  <a:srgbClr val="FFC000"/>
                </a:solidFill>
                <a:latin typeface="Cambria"/>
                <a:cs typeface="Cambria"/>
              </a:endParaRPr>
            </a:p>
          </p:txBody>
        </p:sp>
        <p:sp>
          <p:nvSpPr>
            <p:cNvPr id="38" name="object 12">
              <a:extLst>
                <a:ext uri="{FF2B5EF4-FFF2-40B4-BE49-F238E27FC236}">
                  <a16:creationId xmlns:a16="http://schemas.microsoft.com/office/drawing/2014/main" id="{61FAB995-620A-B5E7-8942-22E0157086FD}"/>
                </a:ext>
              </a:extLst>
            </p:cNvPr>
            <p:cNvSpPr txBox="1"/>
            <p:nvPr/>
          </p:nvSpPr>
          <p:spPr>
            <a:xfrm>
              <a:off x="91753" y="5373260"/>
              <a:ext cx="254190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6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Research Gaps</a:t>
              </a:r>
            </a:p>
          </p:txBody>
        </p:sp>
        <p:sp>
          <p:nvSpPr>
            <p:cNvPr id="39" name="object 13">
              <a:extLst>
                <a:ext uri="{FF2B5EF4-FFF2-40B4-BE49-F238E27FC236}">
                  <a16:creationId xmlns:a16="http://schemas.microsoft.com/office/drawing/2014/main" id="{6C3D47EE-C482-B6B7-6929-5E9ADDD02299}"/>
                </a:ext>
              </a:extLst>
            </p:cNvPr>
            <p:cNvSpPr txBox="1"/>
            <p:nvPr/>
          </p:nvSpPr>
          <p:spPr>
            <a:xfrm>
              <a:off x="91753" y="5794343"/>
              <a:ext cx="136144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5" dirty="0">
                  <a:solidFill>
                    <a:srgbClr val="FFFFFF"/>
                  </a:solidFill>
                  <a:latin typeface="Cambria"/>
                </a:rPr>
                <a:t>Objectives</a:t>
              </a:r>
              <a:endParaRPr sz="24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34E6B1E-38EF-C811-3E33-9475F5C807E9}"/>
                </a:ext>
              </a:extLst>
            </p:cNvPr>
            <p:cNvSpPr txBox="1"/>
            <p:nvPr/>
          </p:nvSpPr>
          <p:spPr>
            <a:xfrm>
              <a:off x="40135" y="6603152"/>
              <a:ext cx="24030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spc="-4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References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0E1AC49-2755-6303-726C-6C3CE8A59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404748"/>
              </p:ext>
            </p:extLst>
          </p:nvPr>
        </p:nvGraphicFramePr>
        <p:xfrm>
          <a:off x="3536150" y="2088270"/>
          <a:ext cx="14511706" cy="6952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333">
                  <a:extLst>
                    <a:ext uri="{9D8B030D-6E8A-4147-A177-3AD203B41FA5}">
                      <a16:colId xmlns:a16="http://schemas.microsoft.com/office/drawing/2014/main" val="989377271"/>
                    </a:ext>
                  </a:extLst>
                </a:gridCol>
                <a:gridCol w="1879741">
                  <a:extLst>
                    <a:ext uri="{9D8B030D-6E8A-4147-A177-3AD203B41FA5}">
                      <a16:colId xmlns:a16="http://schemas.microsoft.com/office/drawing/2014/main" val="866240265"/>
                    </a:ext>
                  </a:extLst>
                </a:gridCol>
                <a:gridCol w="3117951">
                  <a:extLst>
                    <a:ext uri="{9D8B030D-6E8A-4147-A177-3AD203B41FA5}">
                      <a16:colId xmlns:a16="http://schemas.microsoft.com/office/drawing/2014/main" val="1463875788"/>
                    </a:ext>
                  </a:extLst>
                </a:gridCol>
                <a:gridCol w="1488438">
                  <a:extLst>
                    <a:ext uri="{9D8B030D-6E8A-4147-A177-3AD203B41FA5}">
                      <a16:colId xmlns:a16="http://schemas.microsoft.com/office/drawing/2014/main" val="3948794064"/>
                    </a:ext>
                  </a:extLst>
                </a:gridCol>
                <a:gridCol w="937558">
                  <a:extLst>
                    <a:ext uri="{9D8B030D-6E8A-4147-A177-3AD203B41FA5}">
                      <a16:colId xmlns:a16="http://schemas.microsoft.com/office/drawing/2014/main" val="117005252"/>
                    </a:ext>
                  </a:extLst>
                </a:gridCol>
                <a:gridCol w="816180">
                  <a:extLst>
                    <a:ext uri="{9D8B030D-6E8A-4147-A177-3AD203B41FA5}">
                      <a16:colId xmlns:a16="http://schemas.microsoft.com/office/drawing/2014/main" val="1137112724"/>
                    </a:ext>
                  </a:extLst>
                </a:gridCol>
                <a:gridCol w="5616505">
                  <a:extLst>
                    <a:ext uri="{9D8B030D-6E8A-4147-A177-3AD203B41FA5}">
                      <a16:colId xmlns:a16="http://schemas.microsoft.com/office/drawing/2014/main" val="1803870345"/>
                    </a:ext>
                  </a:extLst>
                </a:gridCol>
              </a:tblGrid>
              <a:tr h="993160"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Charyyev &amp; Gunes 2021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LSIF: Locality-Sensitive IoT Fingerprinting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IoT-J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PISA fingerprint + CVE scoring pipeline; LSIF = identification only, no CVE mapping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80290"/>
                  </a:ext>
                </a:extLst>
              </a:tr>
              <a:tr h="993160"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Flows to Functions: Macroscopic IoT FP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 (UNSW)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PISA probes behavior INSIDE protocols; UNSW identifies WHICH services run only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556655"/>
                  </a:ext>
                </a:extLst>
              </a:tr>
              <a:tr h="993160"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Oser et al. 2022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SAFER: IoT Risk Assessment at CERN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ACM Trans. P&amp;S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PISA portable RPi, no org infra required; SAFER = cloud-dependent CERN deployment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972784"/>
                  </a:ext>
                </a:extLst>
              </a:tr>
              <a:tr h="993160"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Large-Scale IoT Protocol Security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ACM RAID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PISA LAN field deployment; ACM RAID = internet-scale passive backend scanning only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065163"/>
                  </a:ext>
                </a:extLst>
              </a:tr>
              <a:tr h="9931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SBOM-Driven CVE Triage for IoT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PISA network-based CVE (no firmware); SBOM pipeline = firmware extraction required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486218"/>
                  </a:ext>
                </a:extLst>
              </a:tr>
              <a:tr h="9931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Akhilesh et al. 2022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Pentest Framework for Smart Home IoT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Internet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PISA: WiFi + fingerprint + CVE + exploit in one pipeline; this = exploit-only 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108756"/>
                  </a:ext>
                </a:extLst>
              </a:tr>
              <a:tr h="99317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MOSTO: Modbus/TCP Security Auditing Toolkit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 &amp; Sec.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PISA covers MQTT + CoAP + Modbus + CVE scoring; MOSTO = Modbus/ICS only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71379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1F6D92C-8830-7240-69EC-DCBEC95A11D4}"/>
              </a:ext>
            </a:extLst>
          </p:cNvPr>
          <p:cNvSpPr txBox="1"/>
          <p:nvPr/>
        </p:nvSpPr>
        <p:spPr>
          <a:xfrm>
            <a:off x="7441791" y="9287581"/>
            <a:ext cx="9195618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r>
              <a:rPr lang="en-US" sz="20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PISA: PORTABLE IOT SECURITY ASSESSMENT PLATFORM</a:t>
            </a:r>
          </a:p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endParaRPr lang="en-US" sz="4400" b="1" dirty="0">
              <a:solidFill>
                <a:schemeClr val="bg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0C49BA-CF49-9F08-44C9-397E49F578EC}"/>
              </a:ext>
            </a:extLst>
          </p:cNvPr>
          <p:cNvSpPr txBox="1"/>
          <p:nvPr/>
        </p:nvSpPr>
        <p:spPr>
          <a:xfrm>
            <a:off x="10668000" y="9905545"/>
            <a:ext cx="487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PINNEMCHARLA SAI VIVEK REDDY  |  CH.SC.U4CYS23034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279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81686-0FFC-5107-D189-EB4ED7D03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21A8BE8-DC07-1156-CDE2-DE3538B62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spcBef>
                <a:spcPts val="100"/>
              </a:spcBef>
            </a:pPr>
            <a:r>
              <a:rPr lang="en-US" spc="-40">
                <a:solidFill>
                  <a:srgbClr val="A3123F"/>
                </a:solidFill>
                <a:latin typeface="Georgia"/>
              </a:rPr>
              <a:t>Literature Search</a:t>
            </a:r>
            <a:endParaRPr lang="en-US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C56A77B-F582-C101-8F94-8F99A39F5875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4A6D7E0-A875-4F36-4951-33CAD120F67A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65AA1B2-ED5A-2715-E472-6903AD2F2E1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8F8CCC1-38D6-A66C-4250-FA1868163403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AF8BD4DE-B409-5611-1BCD-4C8C41A604A6}"/>
              </a:ext>
            </a:extLst>
          </p:cNvPr>
          <p:cNvSpPr/>
          <p:nvPr/>
        </p:nvSpPr>
        <p:spPr>
          <a:xfrm>
            <a:off x="3810000" y="2298747"/>
            <a:ext cx="2595240" cy="384048"/>
          </a:xfrm>
          <a:prstGeom prst="rect">
            <a:avLst/>
          </a:prstGeom>
          <a:noFill/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1" dirty="0">
                <a:solidFill>
                  <a:srgbClr val="99124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Databases Searched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3A26D1-995A-8EF1-0FBC-9C663BFEB316}"/>
              </a:ext>
            </a:extLst>
          </p:cNvPr>
          <p:cNvSpPr txBox="1"/>
          <p:nvPr/>
        </p:nvSpPr>
        <p:spPr>
          <a:xfrm>
            <a:off x="3810000" y="2698591"/>
            <a:ext cx="6858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Xplore (S&amp;P, CNS, IoT-J, Access, ICCCA) ............... 6 papers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USENIX Security Symposium ................................... 2 papers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ACM Digital Library (DTRAP, WiNTECH, SIGCOMM) .............. 3 papers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Elsevier ScienceDirect (Computer Networks) .................. 2 papers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MDPI (Sensors, Electronics) + Springer IJIS ................. 3 papers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7348B0-03BF-DFF0-1F38-570E04C1D2E2}"/>
              </a:ext>
            </a:extLst>
          </p:cNvPr>
          <p:cNvSpPr/>
          <p:nvPr/>
        </p:nvSpPr>
        <p:spPr>
          <a:xfrm>
            <a:off x="3865557" y="5510689"/>
            <a:ext cx="2539683" cy="436482"/>
          </a:xfrm>
          <a:prstGeom prst="rect">
            <a:avLst/>
          </a:prstGeom>
          <a:noFill/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1" dirty="0">
                <a:solidFill>
                  <a:srgbClr val="99124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Search Strings Used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F26D1F-5522-C313-1DDB-E37F19CEAB16}"/>
              </a:ext>
            </a:extLst>
          </p:cNvPr>
          <p:cNvSpPr txBox="1"/>
          <p:nvPr/>
        </p:nvSpPr>
        <p:spPr>
          <a:xfrm>
            <a:off x="3865557" y="5894737"/>
            <a:ext cx="685800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"IoT security" AND "vulnerability assessment" AND "portable OR edge hardware"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"WiFi" AND "beacon analysis OR WPA3 OR WPA2 OR passive scan"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"IoT fingerprinting" AND "MQTT OR CoAP OR protocol-aware" (non-ML)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"CVE" AND "IoT" AND "CVSS OR EPSS OR CISA KEV OR exploit scoring"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 "MQTT OR CoAP" AND "vulnerability OR authentication OR security"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 "EPSS OR exploit prediction" AND "vulnerability prioritization" (2020-2024)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D8347E9-F3BA-4906-9A2A-4200E0CA3CB3}"/>
              </a:ext>
            </a:extLst>
          </p:cNvPr>
          <p:cNvGrpSpPr/>
          <p:nvPr/>
        </p:nvGrpSpPr>
        <p:grpSpPr>
          <a:xfrm>
            <a:off x="40135" y="3655375"/>
            <a:ext cx="3192964" cy="3409442"/>
            <a:chOff x="40135" y="3655375"/>
            <a:chExt cx="3192964" cy="3409442"/>
          </a:xfrm>
        </p:grpSpPr>
        <p:sp>
          <p:nvSpPr>
            <p:cNvPr id="37" name="object 11">
              <a:extLst>
                <a:ext uri="{FF2B5EF4-FFF2-40B4-BE49-F238E27FC236}">
                  <a16:creationId xmlns:a16="http://schemas.microsoft.com/office/drawing/2014/main" id="{4D45AD64-165F-46F9-9F0A-075B8E647D79}"/>
                </a:ext>
              </a:extLst>
            </p:cNvPr>
            <p:cNvSpPr txBox="1"/>
            <p:nvPr/>
          </p:nvSpPr>
          <p:spPr>
            <a:xfrm>
              <a:off x="79826" y="4967610"/>
              <a:ext cx="282538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b="1" spc="-50" dirty="0">
                  <a:solidFill>
                    <a:srgbClr val="FFC000"/>
                  </a:solidFill>
                  <a:latin typeface="Cambria"/>
                  <a:ea typeface="Cambria"/>
                  <a:cs typeface="Cambria"/>
                </a:rPr>
                <a:t>Literature Search</a:t>
              </a:r>
              <a:endParaRPr sz="2400" b="1" spc="-50" dirty="0">
                <a:solidFill>
                  <a:srgbClr val="FFC000"/>
                </a:solidFill>
                <a:latin typeface="Cambria"/>
                <a:cs typeface="Cambria"/>
              </a:endParaRPr>
            </a:p>
          </p:txBody>
        </p:sp>
        <p:sp>
          <p:nvSpPr>
            <p:cNvPr id="38" name="object 14">
              <a:extLst>
                <a:ext uri="{FF2B5EF4-FFF2-40B4-BE49-F238E27FC236}">
                  <a16:creationId xmlns:a16="http://schemas.microsoft.com/office/drawing/2014/main" id="{9A314B25-8552-CEE8-C6D0-F6E62A486179}"/>
                </a:ext>
              </a:extLst>
            </p:cNvPr>
            <p:cNvSpPr txBox="1"/>
            <p:nvPr/>
          </p:nvSpPr>
          <p:spPr>
            <a:xfrm>
              <a:off x="91753" y="6237920"/>
              <a:ext cx="3141346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</a:rPr>
                <a:t>Architecture Diagram</a:t>
              </a:r>
              <a:endParaRPr sz="2400" dirty="0"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BBC56FD3-C728-A288-9BC2-F40F3F31AE23}"/>
                </a:ext>
              </a:extLst>
            </p:cNvPr>
            <p:cNvSpPr txBox="1"/>
            <p:nvPr/>
          </p:nvSpPr>
          <p:spPr>
            <a:xfrm>
              <a:off x="74559" y="4077070"/>
              <a:ext cx="245745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5" dirty="0">
                  <a:solidFill>
                    <a:schemeClr val="bg1"/>
                  </a:solidFill>
                  <a:latin typeface="Cambria"/>
                  <a:cs typeface="Cambria"/>
                </a:rPr>
                <a:t>Problem</a:t>
              </a:r>
              <a:r>
                <a:rPr sz="2400" spc="-6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400" spc="-45" dirty="0">
                  <a:solidFill>
                    <a:schemeClr val="bg1"/>
                  </a:solidFill>
                  <a:latin typeface="Cambria"/>
                  <a:cs typeface="Cambria"/>
                </a:rPr>
                <a:t>Statement</a:t>
              </a:r>
              <a:endParaRPr sz="2400" dirty="0">
                <a:solidFill>
                  <a:schemeClr val="bg1"/>
                </a:solidFill>
                <a:latin typeface="Cambria"/>
                <a:cs typeface="Cambria"/>
              </a:endParaRPr>
            </a:p>
          </p:txBody>
        </p:sp>
        <p:sp>
          <p:nvSpPr>
            <p:cNvPr id="40" name="object 9">
              <a:extLst>
                <a:ext uri="{FF2B5EF4-FFF2-40B4-BE49-F238E27FC236}">
                  <a16:creationId xmlns:a16="http://schemas.microsoft.com/office/drawing/2014/main" id="{EBA26E23-DB2C-56E0-0B7A-D7FADDB1DE29}"/>
                </a:ext>
              </a:extLst>
            </p:cNvPr>
            <p:cNvSpPr txBox="1"/>
            <p:nvPr/>
          </p:nvSpPr>
          <p:spPr>
            <a:xfrm>
              <a:off x="79475" y="3655375"/>
              <a:ext cx="1721848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0" dirty="0">
                  <a:solidFill>
                    <a:schemeClr val="bg1"/>
                  </a:solidFill>
                  <a:latin typeface="Cambria"/>
                  <a:ea typeface="Cambria"/>
                </a:rPr>
                <a:t>Motivation</a:t>
              </a:r>
              <a:endParaRPr lang="en-US" sz="2400" dirty="0">
                <a:solidFill>
                  <a:schemeClr val="bg1"/>
                </a:solidFill>
                <a:latin typeface="Cambria"/>
                <a:ea typeface="Cambria"/>
              </a:endParaRPr>
            </a:p>
          </p:txBody>
        </p:sp>
        <p:sp>
          <p:nvSpPr>
            <p:cNvPr id="41" name="object 10">
              <a:extLst>
                <a:ext uri="{FF2B5EF4-FFF2-40B4-BE49-F238E27FC236}">
                  <a16:creationId xmlns:a16="http://schemas.microsoft.com/office/drawing/2014/main" id="{7F50E770-3175-AA85-1A1B-0C5A13964B9F}"/>
                </a:ext>
              </a:extLst>
            </p:cNvPr>
            <p:cNvSpPr txBox="1"/>
            <p:nvPr/>
          </p:nvSpPr>
          <p:spPr>
            <a:xfrm>
              <a:off x="77006" y="4569332"/>
              <a:ext cx="2541904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60" dirty="0">
                  <a:solidFill>
                    <a:srgbClr val="FFFFFF"/>
                  </a:solidFill>
                  <a:latin typeface="Cambria"/>
                  <a:cs typeface="Cambria"/>
                </a:rPr>
                <a:t>Literature</a:t>
              </a:r>
              <a:r>
                <a:rPr sz="2400" spc="-65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2400" spc="-30" dirty="0">
                  <a:solidFill>
                    <a:srgbClr val="FFFFFF"/>
                  </a:solidFill>
                  <a:latin typeface="Cambria"/>
                  <a:cs typeface="Cambria"/>
                </a:rPr>
                <a:t>Survey</a:t>
              </a:r>
              <a:endParaRPr sz="2400" dirty="0">
                <a:latin typeface="Cambria"/>
                <a:cs typeface="Cambria"/>
              </a:endParaRPr>
            </a:p>
          </p:txBody>
        </p:sp>
        <p:sp>
          <p:nvSpPr>
            <p:cNvPr id="42" name="object 12">
              <a:extLst>
                <a:ext uri="{FF2B5EF4-FFF2-40B4-BE49-F238E27FC236}">
                  <a16:creationId xmlns:a16="http://schemas.microsoft.com/office/drawing/2014/main" id="{14E73B8F-A363-1017-09E5-48A40D1D6801}"/>
                </a:ext>
              </a:extLst>
            </p:cNvPr>
            <p:cNvSpPr txBox="1"/>
            <p:nvPr/>
          </p:nvSpPr>
          <p:spPr>
            <a:xfrm>
              <a:off x="91753" y="5373260"/>
              <a:ext cx="254190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6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Research Gaps</a:t>
              </a:r>
            </a:p>
          </p:txBody>
        </p:sp>
        <p:sp>
          <p:nvSpPr>
            <p:cNvPr id="43" name="object 13">
              <a:extLst>
                <a:ext uri="{FF2B5EF4-FFF2-40B4-BE49-F238E27FC236}">
                  <a16:creationId xmlns:a16="http://schemas.microsoft.com/office/drawing/2014/main" id="{9E933C8E-D67C-FDA3-82D0-C9DE34F4EE1C}"/>
                </a:ext>
              </a:extLst>
            </p:cNvPr>
            <p:cNvSpPr txBox="1"/>
            <p:nvPr/>
          </p:nvSpPr>
          <p:spPr>
            <a:xfrm>
              <a:off x="91753" y="5794343"/>
              <a:ext cx="136144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5" dirty="0">
                  <a:solidFill>
                    <a:srgbClr val="FFFFFF"/>
                  </a:solidFill>
                  <a:latin typeface="Cambria"/>
                </a:rPr>
                <a:t>Objectives</a:t>
              </a:r>
              <a:endParaRPr sz="24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3436314-D776-2623-7CB6-F00817DABB9C}"/>
                </a:ext>
              </a:extLst>
            </p:cNvPr>
            <p:cNvSpPr txBox="1"/>
            <p:nvPr/>
          </p:nvSpPr>
          <p:spPr>
            <a:xfrm>
              <a:off x="40135" y="6603152"/>
              <a:ext cx="24030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spc="-4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References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7" name="Chart 46">
            <a:extLst>
              <a:ext uri="{FF2B5EF4-FFF2-40B4-BE49-F238E27FC236}">
                <a16:creationId xmlns:a16="http://schemas.microsoft.com/office/drawing/2014/main" id="{B61CA2C4-8F24-DD8E-19E8-D8D1EB1491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0675209"/>
              </p:ext>
            </p:extLst>
          </p:nvPr>
        </p:nvGraphicFramePr>
        <p:xfrm>
          <a:off x="9296400" y="2384041"/>
          <a:ext cx="9448800" cy="5632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4E09696-B0A8-B8BF-4DDA-540F0995D916}"/>
              </a:ext>
            </a:extLst>
          </p:cNvPr>
          <p:cNvSpPr txBox="1"/>
          <p:nvPr/>
        </p:nvSpPr>
        <p:spPr>
          <a:xfrm>
            <a:off x="7441791" y="9287581"/>
            <a:ext cx="9195618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r>
              <a:rPr lang="en-US" sz="20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PISA: PORTABLE IOT SECURITY ASSESSMENT PLATFORM</a:t>
            </a:r>
          </a:p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endParaRPr lang="en-US" sz="4400" b="1" dirty="0">
              <a:solidFill>
                <a:schemeClr val="bg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3109A7-F4EF-FB80-8463-0B4272F87661}"/>
              </a:ext>
            </a:extLst>
          </p:cNvPr>
          <p:cNvSpPr txBox="1"/>
          <p:nvPr/>
        </p:nvSpPr>
        <p:spPr>
          <a:xfrm>
            <a:off x="10668000" y="9905545"/>
            <a:ext cx="487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PINNEMCHARLA SAI VIVEK REDDY  |  CH.SC.U4CYS23034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138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534D-C19D-9EF8-EF7B-82F80E38A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5AE9CCA-2DB2-903D-E0E2-0CD27F3FCF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spcBef>
                <a:spcPts val="100"/>
              </a:spcBef>
            </a:pPr>
            <a:r>
              <a:rPr lang="en-US" spc="-40" dirty="0">
                <a:solidFill>
                  <a:srgbClr val="A3123F"/>
                </a:solidFill>
                <a:latin typeface="Georgia"/>
              </a:rPr>
              <a:t>Research Gaps</a:t>
            </a:r>
            <a:endParaRPr lang="en-US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B6AEDE3-7C1C-8474-DFE4-985FF5711F80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0DE765D-118C-96C8-AD6D-ED86CAD4D86B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918663F3-AC40-6EFE-603D-F6095B0786B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A594581-B74D-93D2-20DF-4C23933C3E09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A5E9B8E-6B2A-A14D-7492-19986C24709E}"/>
              </a:ext>
            </a:extLst>
          </p:cNvPr>
          <p:cNvSpPr txBox="1"/>
          <p:nvPr/>
        </p:nvSpPr>
        <p:spPr>
          <a:xfrm>
            <a:off x="3491906" y="2037565"/>
            <a:ext cx="68945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9C5C66-58DA-5BFF-3279-1EFD83A1CCFE}"/>
              </a:ext>
            </a:extLst>
          </p:cNvPr>
          <p:cNvSpPr txBox="1"/>
          <p:nvPr/>
        </p:nvSpPr>
        <p:spPr>
          <a:xfrm>
            <a:off x="3534860" y="2513281"/>
            <a:ext cx="6986016" cy="1813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endParaRPr/>
          </a:p>
          <a:p>
            <a:pPr algn="l">
              <a:spcBef>
                <a:spcPts val="200"/>
              </a:spcBef>
              <a:spcAft>
                <a:spcPts val="100"/>
              </a:spcAft>
            </a:pPr>
            <a:endParaRPr/>
          </a:p>
          <a:p>
            <a:pPr algn="l">
              <a:spcBef>
                <a:spcPts val="300"/>
              </a:spcBef>
              <a:spcAft>
                <a:spcPts val="100"/>
              </a:spcAft>
            </a:pPr>
            <a:endParaRPr b="1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8C441E-23B7-F816-4F68-8F6F938081E5}"/>
              </a:ext>
            </a:extLst>
          </p:cNvPr>
          <p:cNvSpPr txBox="1"/>
          <p:nvPr/>
        </p:nvSpPr>
        <p:spPr>
          <a:xfrm>
            <a:off x="10774680" y="1968178"/>
            <a:ext cx="71963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8BF21F-F4FC-1F9F-D45F-D252676B52B2}"/>
              </a:ext>
            </a:extLst>
          </p:cNvPr>
          <p:cNvSpPr txBox="1"/>
          <p:nvPr/>
        </p:nvSpPr>
        <p:spPr>
          <a:xfrm>
            <a:off x="3491906" y="4946676"/>
            <a:ext cx="74774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B951AA-43A7-5628-AEE9-DF2658B6112D}"/>
              </a:ext>
            </a:extLst>
          </p:cNvPr>
          <p:cNvSpPr txBox="1"/>
          <p:nvPr/>
        </p:nvSpPr>
        <p:spPr>
          <a:xfrm>
            <a:off x="3578352" y="5422392"/>
            <a:ext cx="731824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endParaRPr/>
          </a:p>
          <a:p>
            <a:pPr algn="l">
              <a:spcBef>
                <a:spcPts val="200"/>
              </a:spcBef>
              <a:spcAft>
                <a:spcPts val="100"/>
              </a:spcAft>
            </a:pPr>
            <a:endParaRPr/>
          </a:p>
          <a:p>
            <a:pPr algn="l">
              <a:spcBef>
                <a:spcPts val="200"/>
              </a:spcBef>
              <a:spcAft>
                <a:spcPts val="100"/>
              </a:spcAft>
            </a:pPr>
            <a:endParaRPr b="1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8CD695-6388-9E70-E37C-2721B17A154E}"/>
              </a:ext>
            </a:extLst>
          </p:cNvPr>
          <p:cNvSpPr txBox="1"/>
          <p:nvPr/>
        </p:nvSpPr>
        <p:spPr>
          <a:xfrm>
            <a:off x="11030712" y="5029200"/>
            <a:ext cx="6986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EA4FE4-04E0-B3E9-5191-9F4403D4DB9A}"/>
              </a:ext>
            </a:extLst>
          </p:cNvPr>
          <p:cNvSpPr txBox="1"/>
          <p:nvPr/>
        </p:nvSpPr>
        <p:spPr>
          <a:xfrm>
            <a:off x="3491906" y="7802523"/>
            <a:ext cx="14392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9F4299-A981-DC7E-EE01-3614781DE070}"/>
              </a:ext>
            </a:extLst>
          </p:cNvPr>
          <p:cNvSpPr txBox="1"/>
          <p:nvPr/>
        </p:nvSpPr>
        <p:spPr>
          <a:xfrm>
            <a:off x="3491906" y="8195714"/>
            <a:ext cx="14392656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endParaRPr/>
          </a:p>
          <a:p>
            <a:pPr algn="l">
              <a:spcBef>
                <a:spcPts val="200"/>
              </a:spcBef>
              <a:spcAft>
                <a:spcPts val="100"/>
              </a:spcAft>
            </a:pPr>
            <a:endParaRPr/>
          </a:p>
          <a:p>
            <a:pPr algn="l">
              <a:spcBef>
                <a:spcPts val="200"/>
              </a:spcBef>
              <a:spcAft>
                <a:spcPts val="100"/>
              </a:spcAft>
            </a:pPr>
            <a:endParaRPr/>
          </a:p>
          <a:p>
            <a:pPr algn="l">
              <a:spcBef>
                <a:spcPts val="300"/>
              </a:spcBef>
              <a:spcAft>
                <a:spcPts val="100"/>
              </a:spcAft>
            </a:pPr>
            <a:endParaRPr b="1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036EE1B-B364-E0AF-F571-7D29625B636F}"/>
              </a:ext>
            </a:extLst>
          </p:cNvPr>
          <p:cNvGrpSpPr/>
          <p:nvPr/>
        </p:nvGrpSpPr>
        <p:grpSpPr>
          <a:xfrm>
            <a:off x="40135" y="3655375"/>
            <a:ext cx="3192964" cy="3409442"/>
            <a:chOff x="40135" y="3655375"/>
            <a:chExt cx="3192964" cy="3409442"/>
          </a:xfrm>
        </p:grpSpPr>
        <p:sp>
          <p:nvSpPr>
            <p:cNvPr id="45" name="object 11">
              <a:extLst>
                <a:ext uri="{FF2B5EF4-FFF2-40B4-BE49-F238E27FC236}">
                  <a16:creationId xmlns:a16="http://schemas.microsoft.com/office/drawing/2014/main" id="{91AFB9E0-4D21-20DF-46B7-3BCA50B9FA54}"/>
                </a:ext>
              </a:extLst>
            </p:cNvPr>
            <p:cNvSpPr txBox="1"/>
            <p:nvPr/>
          </p:nvSpPr>
          <p:spPr>
            <a:xfrm>
              <a:off x="79826" y="4967610"/>
              <a:ext cx="282538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Literature Search</a:t>
              </a:r>
              <a:endParaRPr sz="2400" spc="-50" dirty="0">
                <a:solidFill>
                  <a:srgbClr val="FFFFFF"/>
                </a:solidFill>
                <a:latin typeface="Cambria"/>
                <a:cs typeface="Cambria"/>
              </a:endParaRPr>
            </a:p>
          </p:txBody>
        </p:sp>
        <p:sp>
          <p:nvSpPr>
            <p:cNvPr id="46" name="object 14">
              <a:extLst>
                <a:ext uri="{FF2B5EF4-FFF2-40B4-BE49-F238E27FC236}">
                  <a16:creationId xmlns:a16="http://schemas.microsoft.com/office/drawing/2014/main" id="{18CBE22A-9E4B-03AC-A9A5-78182FA165E7}"/>
                </a:ext>
              </a:extLst>
            </p:cNvPr>
            <p:cNvSpPr txBox="1"/>
            <p:nvPr/>
          </p:nvSpPr>
          <p:spPr>
            <a:xfrm>
              <a:off x="91753" y="6237920"/>
              <a:ext cx="3141346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</a:rPr>
                <a:t>Architecture Diagram</a:t>
              </a:r>
              <a:endParaRPr sz="2400" dirty="0"/>
            </a:p>
          </p:txBody>
        </p:sp>
        <p:sp>
          <p:nvSpPr>
            <p:cNvPr id="47" name="object 7">
              <a:extLst>
                <a:ext uri="{FF2B5EF4-FFF2-40B4-BE49-F238E27FC236}">
                  <a16:creationId xmlns:a16="http://schemas.microsoft.com/office/drawing/2014/main" id="{800BC52E-F883-09A5-1217-E227BEAE604B}"/>
                </a:ext>
              </a:extLst>
            </p:cNvPr>
            <p:cNvSpPr txBox="1"/>
            <p:nvPr/>
          </p:nvSpPr>
          <p:spPr>
            <a:xfrm>
              <a:off x="74559" y="4077070"/>
              <a:ext cx="245745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5" dirty="0">
                  <a:solidFill>
                    <a:schemeClr val="bg1"/>
                  </a:solidFill>
                  <a:latin typeface="Cambria"/>
                  <a:cs typeface="Cambria"/>
                </a:rPr>
                <a:t>Problem</a:t>
              </a:r>
              <a:r>
                <a:rPr sz="2400" spc="-6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400" spc="-45" dirty="0">
                  <a:solidFill>
                    <a:schemeClr val="bg1"/>
                  </a:solidFill>
                  <a:latin typeface="Cambria"/>
                  <a:cs typeface="Cambria"/>
                </a:rPr>
                <a:t>Statement</a:t>
              </a:r>
              <a:endParaRPr sz="2400" dirty="0">
                <a:solidFill>
                  <a:schemeClr val="bg1"/>
                </a:solidFill>
                <a:latin typeface="Cambria"/>
                <a:cs typeface="Cambria"/>
              </a:endParaRPr>
            </a:p>
          </p:txBody>
        </p:sp>
        <p:sp>
          <p:nvSpPr>
            <p:cNvPr id="48" name="object 9">
              <a:extLst>
                <a:ext uri="{FF2B5EF4-FFF2-40B4-BE49-F238E27FC236}">
                  <a16:creationId xmlns:a16="http://schemas.microsoft.com/office/drawing/2014/main" id="{478684CB-C7C0-6A02-887B-2BCBF8CB140E}"/>
                </a:ext>
              </a:extLst>
            </p:cNvPr>
            <p:cNvSpPr txBox="1"/>
            <p:nvPr/>
          </p:nvSpPr>
          <p:spPr>
            <a:xfrm>
              <a:off x="79475" y="3655375"/>
              <a:ext cx="1721848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0" dirty="0">
                  <a:solidFill>
                    <a:schemeClr val="bg1"/>
                  </a:solidFill>
                  <a:latin typeface="Cambria"/>
                  <a:ea typeface="Cambria"/>
                </a:rPr>
                <a:t>Motivation</a:t>
              </a:r>
              <a:endParaRPr lang="en-US" sz="2400" dirty="0">
                <a:solidFill>
                  <a:schemeClr val="bg1"/>
                </a:solidFill>
                <a:latin typeface="Cambria"/>
                <a:ea typeface="Cambria"/>
              </a:endParaRPr>
            </a:p>
          </p:txBody>
        </p:sp>
        <p:sp>
          <p:nvSpPr>
            <p:cNvPr id="49" name="object 10">
              <a:extLst>
                <a:ext uri="{FF2B5EF4-FFF2-40B4-BE49-F238E27FC236}">
                  <a16:creationId xmlns:a16="http://schemas.microsoft.com/office/drawing/2014/main" id="{5EC8FCFC-6906-78BE-D414-6EFAD5E1F600}"/>
                </a:ext>
              </a:extLst>
            </p:cNvPr>
            <p:cNvSpPr txBox="1"/>
            <p:nvPr/>
          </p:nvSpPr>
          <p:spPr>
            <a:xfrm>
              <a:off x="77006" y="4569332"/>
              <a:ext cx="2541904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60" dirty="0">
                  <a:solidFill>
                    <a:srgbClr val="FFFFFF"/>
                  </a:solidFill>
                  <a:latin typeface="Cambria"/>
                  <a:cs typeface="Cambria"/>
                </a:rPr>
                <a:t>Literature</a:t>
              </a:r>
              <a:r>
                <a:rPr sz="2400" spc="-65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2400" spc="-30" dirty="0">
                  <a:solidFill>
                    <a:srgbClr val="FFFFFF"/>
                  </a:solidFill>
                  <a:latin typeface="Cambria"/>
                  <a:cs typeface="Cambria"/>
                </a:rPr>
                <a:t>Survey</a:t>
              </a:r>
              <a:endParaRPr sz="2400" dirty="0">
                <a:latin typeface="Cambria"/>
                <a:cs typeface="Cambria"/>
              </a:endParaRPr>
            </a:p>
          </p:txBody>
        </p:sp>
        <p:sp>
          <p:nvSpPr>
            <p:cNvPr id="50" name="object 12">
              <a:extLst>
                <a:ext uri="{FF2B5EF4-FFF2-40B4-BE49-F238E27FC236}">
                  <a16:creationId xmlns:a16="http://schemas.microsoft.com/office/drawing/2014/main" id="{20F5032C-2DF1-E5E7-211C-F6981AD0CAD6}"/>
                </a:ext>
              </a:extLst>
            </p:cNvPr>
            <p:cNvSpPr txBox="1"/>
            <p:nvPr/>
          </p:nvSpPr>
          <p:spPr>
            <a:xfrm>
              <a:off x="91753" y="5373260"/>
              <a:ext cx="254190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b="1" spc="-60" dirty="0">
                  <a:solidFill>
                    <a:srgbClr val="FFC000"/>
                  </a:solidFill>
                  <a:latin typeface="Cambria"/>
                  <a:ea typeface="Cambria"/>
                  <a:cs typeface="Cambria"/>
                </a:rPr>
                <a:t>Research Gaps</a:t>
              </a:r>
            </a:p>
          </p:txBody>
        </p:sp>
        <p:sp>
          <p:nvSpPr>
            <p:cNvPr id="51" name="object 13">
              <a:extLst>
                <a:ext uri="{FF2B5EF4-FFF2-40B4-BE49-F238E27FC236}">
                  <a16:creationId xmlns:a16="http://schemas.microsoft.com/office/drawing/2014/main" id="{EB974823-6F29-DDC8-F606-3ECAA8784562}"/>
                </a:ext>
              </a:extLst>
            </p:cNvPr>
            <p:cNvSpPr txBox="1"/>
            <p:nvPr/>
          </p:nvSpPr>
          <p:spPr>
            <a:xfrm>
              <a:off x="91753" y="5794343"/>
              <a:ext cx="136144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5" dirty="0">
                  <a:solidFill>
                    <a:srgbClr val="FFFFFF"/>
                  </a:solidFill>
                  <a:latin typeface="Cambria"/>
                </a:rPr>
                <a:t>Objectives</a:t>
              </a:r>
              <a:endParaRPr sz="24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AB1AE2F-18FE-12CE-A6DC-21FC2F1AEC5E}"/>
                </a:ext>
              </a:extLst>
            </p:cNvPr>
            <p:cNvSpPr txBox="1"/>
            <p:nvPr/>
          </p:nvSpPr>
          <p:spPr>
            <a:xfrm>
              <a:off x="40135" y="6603152"/>
              <a:ext cx="24030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spc="-4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References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AD54B59-0906-DCDC-F905-514BA5AE4EBD}"/>
              </a:ext>
            </a:extLst>
          </p:cNvPr>
          <p:cNvSpPr txBox="1"/>
          <p:nvPr/>
        </p:nvSpPr>
        <p:spPr>
          <a:xfrm>
            <a:off x="7441791" y="9287581"/>
            <a:ext cx="9195618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r>
              <a:rPr lang="en-US" sz="20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PISA: PORTABLE IOT SECURITY ASSESSMENT PLATFORM</a:t>
            </a:r>
          </a:p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endParaRPr lang="en-US" sz="4400" b="1" dirty="0">
              <a:solidFill>
                <a:schemeClr val="bg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74A737-9D0B-36B8-3BD8-CCB101EB7101}"/>
              </a:ext>
            </a:extLst>
          </p:cNvPr>
          <p:cNvSpPr txBox="1"/>
          <p:nvPr/>
        </p:nvSpPr>
        <p:spPr>
          <a:xfrm>
            <a:off x="14787300" y="9908037"/>
            <a:ext cx="8192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By me</a:t>
            </a:r>
            <a:endParaRPr lang="en-IN" dirty="0"/>
          </a:p>
        </p:txBody>
      </p:sp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761172"/>
              </p:ext>
            </p:extLst>
          </p:nvPr>
        </p:nvGraphicFramePr>
        <p:xfrm>
          <a:off x="4041921" y="1807144"/>
          <a:ext cx="11953823" cy="758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5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4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15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</a:t>
                      </a:r>
                      <a:endParaRPr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  <a:endParaRPr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 WORK  LIMITATION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PISA SOLUTION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3312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G1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Unified </a:t>
                      </a:r>
                      <a:r>
                        <a:rPr sz="1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</a:t>
                      </a:r>
                    </a:p>
                    <a:p>
                      <a:pPr algn="l"/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 Assessment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Nessus / OpenVAS device only</a:t>
                      </a:r>
                    </a:p>
                    <a:p>
                      <a:pPr algn="l"/>
                      <a:r>
                        <a:rPr sz="1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NetAlly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AirCheck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only</a:t>
                      </a:r>
                    </a:p>
                    <a:p>
                      <a:pPr algn="l"/>
                      <a:r>
                        <a:rPr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Never integrated in one pipeline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Dual-layer pipeline</a:t>
                      </a:r>
                    </a:p>
                    <a:p>
                      <a:pPr algn="l"/>
                      <a:r>
                        <a:rPr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WiFi + Device on RPi 4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3312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G2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Real-Time CVE</a:t>
                      </a:r>
                    </a:p>
                    <a:p>
                      <a:pPr algn="l"/>
                      <a:r>
                        <a:rPr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Exploit Scoring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NVD lookup 45+ min</a:t>
                      </a:r>
                    </a:p>
                    <a:p>
                      <a:pPr algn="l"/>
                      <a:r>
                        <a:rPr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EPSS integration in any tool</a:t>
                      </a:r>
                    </a:p>
                    <a:p>
                      <a:pPr algn="l"/>
                      <a:r>
                        <a:rPr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CISA KEV auto-flagging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Tri-Metric ExploitScore</a:t>
                      </a:r>
                    </a:p>
                    <a:p>
                      <a:pPr algn="l"/>
                      <a:r>
                        <a:rPr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CVSS x EPSS x KEV</a:t>
                      </a:r>
                    </a:p>
                    <a:p>
                      <a:pPr algn="l"/>
                      <a:r>
                        <a:rPr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Real-time, automated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3312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G3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Passive WiFi</a:t>
                      </a:r>
                    </a:p>
                    <a:p>
                      <a:pPr algn="l"/>
                      <a:r>
                        <a:rPr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Posture Grading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Kismet / </a:t>
                      </a:r>
                      <a:r>
                        <a:rPr sz="1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airodump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raw capture only</a:t>
                      </a:r>
                    </a:p>
                    <a:p>
                      <a:pPr algn="l"/>
                      <a:r>
                        <a:rPr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A-F structured grading exists</a:t>
                      </a:r>
                    </a:p>
                    <a:p>
                      <a:pPr algn="l"/>
                      <a:r>
                        <a:rPr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[Nguyen, IEEE IoT-J 2023]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WSPS: Beacon-only A-F grade</a:t>
                      </a:r>
                    </a:p>
                    <a:p>
                      <a:pPr algn="l"/>
                      <a:r>
                        <a:rPr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security factors</a:t>
                      </a:r>
                    </a:p>
                    <a:p>
                      <a:pPr algn="l"/>
                      <a:r>
                        <a:rPr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 traffic injection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3312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G4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Non-ML IoT</a:t>
                      </a:r>
                    </a:p>
                    <a:p>
                      <a:pPr algn="l"/>
                      <a:r>
                        <a:rPr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Fingerprinting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IoTective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ML, fails on new devices</a:t>
                      </a:r>
                    </a:p>
                    <a:p>
                      <a:pPr algn="l"/>
                      <a:r>
                        <a:rPr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SAFER TCP/IP only, no app-layer</a:t>
                      </a:r>
                    </a:p>
                    <a:p>
                      <a:pPr algn="l"/>
                      <a:r>
                        <a:rPr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[Sivanathan et al., 2021]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Deterministic protocol</a:t>
                      </a:r>
                    </a:p>
                    <a:p>
                      <a:pPr algn="l"/>
                      <a:r>
                        <a:rPr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 machine</a:t>
                      </a:r>
                    </a:p>
                    <a:p>
                      <a:pPr algn="l"/>
                      <a:r>
                        <a:rPr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 ML training required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53312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G5  MOST NOVEL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Cross-Protocol</a:t>
                      </a:r>
                    </a:p>
                    <a:p>
                      <a:pPr algn="l"/>
                      <a:r>
                        <a:rPr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Confidence Fusion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Single-protocol ID only</a:t>
                      </a:r>
                    </a:p>
                    <a:p>
                      <a:pPr algn="l"/>
                      <a:r>
                        <a:rPr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mathematical fusion model exists</a:t>
                      </a:r>
                    </a:p>
                    <a:p>
                      <a:pPr algn="l"/>
                      <a:r>
                        <a:rPr sz="18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prior IoT application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 = 1 - prod(1 - ci)</a:t>
                      </a:r>
                    </a:p>
                    <a:p>
                      <a:pPr algn="l"/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Fuses MQTT + CoAP + HTTP + RTSP</a:t>
                      </a:r>
                    </a:p>
                    <a:p>
                      <a:pPr algn="l"/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+12-18% device ID accuracy</a:t>
                      </a:r>
                    </a:p>
                  </a:txBody>
                  <a:tcPr marL="73152" marR="731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671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7146D-D880-B2D6-ACD9-BBFC206A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9AC531F-A733-87FF-3195-7FE3C7447C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spcBef>
                <a:spcPts val="100"/>
              </a:spcBef>
            </a:pPr>
            <a:r>
              <a:rPr lang="en-US" spc="-40" dirty="0">
                <a:solidFill>
                  <a:srgbClr val="A3123F"/>
                </a:solidFill>
                <a:latin typeface="Georgia"/>
              </a:rPr>
              <a:t>Research Gaps</a:t>
            </a:r>
            <a:endParaRPr lang="en-US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1288726-9EDB-F33A-CA1C-B2F76A1F9E77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32ED87C-017F-36C9-6BC9-80B8C7062724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368901F2-DA09-6AF8-E794-045C7A38991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2A59CB8-F571-6E9A-9547-B92ACC4AC6EF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93FB90F-DD78-A02B-8634-2FCD127C0DCD}"/>
              </a:ext>
            </a:extLst>
          </p:cNvPr>
          <p:cNvSpPr txBox="1"/>
          <p:nvPr/>
        </p:nvSpPr>
        <p:spPr>
          <a:xfrm>
            <a:off x="3491906" y="2037565"/>
            <a:ext cx="68945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6A29BE-F7B9-8619-B3BD-F79179A6D6B2}"/>
              </a:ext>
            </a:extLst>
          </p:cNvPr>
          <p:cNvSpPr txBox="1"/>
          <p:nvPr/>
        </p:nvSpPr>
        <p:spPr>
          <a:xfrm>
            <a:off x="10774680" y="1968178"/>
            <a:ext cx="71963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E481C6-15FF-B262-C43B-B9201546A88F}"/>
              </a:ext>
            </a:extLst>
          </p:cNvPr>
          <p:cNvSpPr txBox="1"/>
          <p:nvPr/>
        </p:nvSpPr>
        <p:spPr>
          <a:xfrm>
            <a:off x="3491906" y="4946676"/>
            <a:ext cx="74774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7D9D02-EA47-86AE-B463-9617EBD4BB9F}"/>
              </a:ext>
            </a:extLst>
          </p:cNvPr>
          <p:cNvSpPr txBox="1"/>
          <p:nvPr/>
        </p:nvSpPr>
        <p:spPr>
          <a:xfrm>
            <a:off x="3578352" y="5422392"/>
            <a:ext cx="731824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endParaRPr/>
          </a:p>
          <a:p>
            <a:pPr algn="l">
              <a:spcBef>
                <a:spcPts val="200"/>
              </a:spcBef>
              <a:spcAft>
                <a:spcPts val="100"/>
              </a:spcAft>
            </a:pPr>
            <a:endParaRPr/>
          </a:p>
          <a:p>
            <a:pPr algn="l">
              <a:spcBef>
                <a:spcPts val="200"/>
              </a:spcBef>
              <a:spcAft>
                <a:spcPts val="100"/>
              </a:spcAft>
            </a:pPr>
            <a:endParaRPr b="1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9987F8-566E-13AA-4732-2E1647EEE0C9}"/>
              </a:ext>
            </a:extLst>
          </p:cNvPr>
          <p:cNvSpPr txBox="1"/>
          <p:nvPr/>
        </p:nvSpPr>
        <p:spPr>
          <a:xfrm>
            <a:off x="11030712" y="5029200"/>
            <a:ext cx="6986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6160FA-A231-2B01-C07D-4BB9A02829AB}"/>
              </a:ext>
            </a:extLst>
          </p:cNvPr>
          <p:cNvSpPr txBox="1"/>
          <p:nvPr/>
        </p:nvSpPr>
        <p:spPr>
          <a:xfrm>
            <a:off x="3491906" y="7802523"/>
            <a:ext cx="14392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A5EFF0-5DDB-DB81-D015-AB63E1CACEB4}"/>
              </a:ext>
            </a:extLst>
          </p:cNvPr>
          <p:cNvSpPr txBox="1"/>
          <p:nvPr/>
        </p:nvSpPr>
        <p:spPr>
          <a:xfrm>
            <a:off x="3491906" y="8195714"/>
            <a:ext cx="14392656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endParaRPr/>
          </a:p>
          <a:p>
            <a:pPr algn="l">
              <a:spcBef>
                <a:spcPts val="200"/>
              </a:spcBef>
              <a:spcAft>
                <a:spcPts val="100"/>
              </a:spcAft>
            </a:pPr>
            <a:endParaRPr/>
          </a:p>
          <a:p>
            <a:pPr algn="l">
              <a:spcBef>
                <a:spcPts val="200"/>
              </a:spcBef>
              <a:spcAft>
                <a:spcPts val="100"/>
              </a:spcAft>
            </a:pPr>
            <a:endParaRPr/>
          </a:p>
          <a:p>
            <a:pPr algn="l">
              <a:spcBef>
                <a:spcPts val="300"/>
              </a:spcBef>
              <a:spcAft>
                <a:spcPts val="100"/>
              </a:spcAft>
            </a:pPr>
            <a:endParaRPr b="1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48373ED-CE5D-52F3-F6E6-4CAD23A881A6}"/>
              </a:ext>
            </a:extLst>
          </p:cNvPr>
          <p:cNvGrpSpPr/>
          <p:nvPr/>
        </p:nvGrpSpPr>
        <p:grpSpPr>
          <a:xfrm>
            <a:off x="40135" y="3655375"/>
            <a:ext cx="3192964" cy="3409442"/>
            <a:chOff x="40135" y="3655375"/>
            <a:chExt cx="3192964" cy="3409442"/>
          </a:xfrm>
        </p:grpSpPr>
        <p:sp>
          <p:nvSpPr>
            <p:cNvPr id="45" name="object 11">
              <a:extLst>
                <a:ext uri="{FF2B5EF4-FFF2-40B4-BE49-F238E27FC236}">
                  <a16:creationId xmlns:a16="http://schemas.microsoft.com/office/drawing/2014/main" id="{B90B4E2C-C40A-D2A1-04C9-FADC000175A6}"/>
                </a:ext>
              </a:extLst>
            </p:cNvPr>
            <p:cNvSpPr txBox="1"/>
            <p:nvPr/>
          </p:nvSpPr>
          <p:spPr>
            <a:xfrm>
              <a:off x="79826" y="4967610"/>
              <a:ext cx="282538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Literature Search</a:t>
              </a:r>
              <a:endParaRPr sz="2400" spc="-50" dirty="0">
                <a:solidFill>
                  <a:srgbClr val="FFFFFF"/>
                </a:solidFill>
                <a:latin typeface="Cambria"/>
                <a:cs typeface="Cambria"/>
              </a:endParaRPr>
            </a:p>
          </p:txBody>
        </p:sp>
        <p:sp>
          <p:nvSpPr>
            <p:cNvPr id="46" name="object 14">
              <a:extLst>
                <a:ext uri="{FF2B5EF4-FFF2-40B4-BE49-F238E27FC236}">
                  <a16:creationId xmlns:a16="http://schemas.microsoft.com/office/drawing/2014/main" id="{68B47326-BF26-678A-B2FA-AC9E25E80ECA}"/>
                </a:ext>
              </a:extLst>
            </p:cNvPr>
            <p:cNvSpPr txBox="1"/>
            <p:nvPr/>
          </p:nvSpPr>
          <p:spPr>
            <a:xfrm>
              <a:off x="91753" y="6237920"/>
              <a:ext cx="3141346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</a:rPr>
                <a:t>Architecture Diagram</a:t>
              </a:r>
              <a:endParaRPr sz="2400" dirty="0"/>
            </a:p>
          </p:txBody>
        </p:sp>
        <p:sp>
          <p:nvSpPr>
            <p:cNvPr id="47" name="object 7">
              <a:extLst>
                <a:ext uri="{FF2B5EF4-FFF2-40B4-BE49-F238E27FC236}">
                  <a16:creationId xmlns:a16="http://schemas.microsoft.com/office/drawing/2014/main" id="{498AAADD-4001-923D-989E-E343DE0A4007}"/>
                </a:ext>
              </a:extLst>
            </p:cNvPr>
            <p:cNvSpPr txBox="1"/>
            <p:nvPr/>
          </p:nvSpPr>
          <p:spPr>
            <a:xfrm>
              <a:off x="74559" y="4077070"/>
              <a:ext cx="245745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5" dirty="0">
                  <a:solidFill>
                    <a:schemeClr val="bg1"/>
                  </a:solidFill>
                  <a:latin typeface="Cambria"/>
                  <a:cs typeface="Cambria"/>
                </a:rPr>
                <a:t>Problem</a:t>
              </a:r>
              <a:r>
                <a:rPr sz="2400" spc="-6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400" spc="-45" dirty="0">
                  <a:solidFill>
                    <a:schemeClr val="bg1"/>
                  </a:solidFill>
                  <a:latin typeface="Cambria"/>
                  <a:cs typeface="Cambria"/>
                </a:rPr>
                <a:t>Statement</a:t>
              </a:r>
              <a:endParaRPr sz="2400" dirty="0">
                <a:solidFill>
                  <a:schemeClr val="bg1"/>
                </a:solidFill>
                <a:latin typeface="Cambria"/>
                <a:cs typeface="Cambria"/>
              </a:endParaRPr>
            </a:p>
          </p:txBody>
        </p:sp>
        <p:sp>
          <p:nvSpPr>
            <p:cNvPr id="48" name="object 9">
              <a:extLst>
                <a:ext uri="{FF2B5EF4-FFF2-40B4-BE49-F238E27FC236}">
                  <a16:creationId xmlns:a16="http://schemas.microsoft.com/office/drawing/2014/main" id="{2CDFC02E-5CB1-F0A5-E4E9-A9262DBF1035}"/>
                </a:ext>
              </a:extLst>
            </p:cNvPr>
            <p:cNvSpPr txBox="1"/>
            <p:nvPr/>
          </p:nvSpPr>
          <p:spPr>
            <a:xfrm>
              <a:off x="79475" y="3655375"/>
              <a:ext cx="1721848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0" dirty="0">
                  <a:solidFill>
                    <a:schemeClr val="bg1"/>
                  </a:solidFill>
                  <a:latin typeface="Cambria"/>
                  <a:ea typeface="Cambria"/>
                </a:rPr>
                <a:t>Motivation</a:t>
              </a:r>
              <a:endParaRPr lang="en-US" sz="2400" dirty="0">
                <a:solidFill>
                  <a:schemeClr val="bg1"/>
                </a:solidFill>
                <a:latin typeface="Cambria"/>
                <a:ea typeface="Cambria"/>
              </a:endParaRPr>
            </a:p>
          </p:txBody>
        </p:sp>
        <p:sp>
          <p:nvSpPr>
            <p:cNvPr id="49" name="object 10">
              <a:extLst>
                <a:ext uri="{FF2B5EF4-FFF2-40B4-BE49-F238E27FC236}">
                  <a16:creationId xmlns:a16="http://schemas.microsoft.com/office/drawing/2014/main" id="{CC237D07-9ECB-711C-53CD-9DADBDC36407}"/>
                </a:ext>
              </a:extLst>
            </p:cNvPr>
            <p:cNvSpPr txBox="1"/>
            <p:nvPr/>
          </p:nvSpPr>
          <p:spPr>
            <a:xfrm>
              <a:off x="77006" y="4569332"/>
              <a:ext cx="2541904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60" dirty="0">
                  <a:solidFill>
                    <a:srgbClr val="FFFFFF"/>
                  </a:solidFill>
                  <a:latin typeface="Cambria"/>
                  <a:cs typeface="Cambria"/>
                </a:rPr>
                <a:t>Literature</a:t>
              </a:r>
              <a:r>
                <a:rPr sz="2400" spc="-65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2400" spc="-30" dirty="0">
                  <a:solidFill>
                    <a:srgbClr val="FFFFFF"/>
                  </a:solidFill>
                  <a:latin typeface="Cambria"/>
                  <a:cs typeface="Cambria"/>
                </a:rPr>
                <a:t>Survey</a:t>
              </a:r>
              <a:endParaRPr sz="2400" dirty="0">
                <a:latin typeface="Cambria"/>
                <a:cs typeface="Cambria"/>
              </a:endParaRPr>
            </a:p>
          </p:txBody>
        </p:sp>
        <p:sp>
          <p:nvSpPr>
            <p:cNvPr id="50" name="object 12">
              <a:extLst>
                <a:ext uri="{FF2B5EF4-FFF2-40B4-BE49-F238E27FC236}">
                  <a16:creationId xmlns:a16="http://schemas.microsoft.com/office/drawing/2014/main" id="{5221497F-F453-4F40-0BCE-3BFD9636B6C9}"/>
                </a:ext>
              </a:extLst>
            </p:cNvPr>
            <p:cNvSpPr txBox="1"/>
            <p:nvPr/>
          </p:nvSpPr>
          <p:spPr>
            <a:xfrm>
              <a:off x="91753" y="5373260"/>
              <a:ext cx="254190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b="1" spc="-60" dirty="0">
                  <a:solidFill>
                    <a:srgbClr val="FFC000"/>
                  </a:solidFill>
                  <a:latin typeface="Cambria"/>
                  <a:ea typeface="Cambria"/>
                  <a:cs typeface="Cambria"/>
                </a:rPr>
                <a:t>Research Gaps</a:t>
              </a:r>
            </a:p>
          </p:txBody>
        </p:sp>
        <p:sp>
          <p:nvSpPr>
            <p:cNvPr id="51" name="object 13">
              <a:extLst>
                <a:ext uri="{FF2B5EF4-FFF2-40B4-BE49-F238E27FC236}">
                  <a16:creationId xmlns:a16="http://schemas.microsoft.com/office/drawing/2014/main" id="{F5CEEF31-2ABF-085C-E5B7-ADDD694A9D92}"/>
                </a:ext>
              </a:extLst>
            </p:cNvPr>
            <p:cNvSpPr txBox="1"/>
            <p:nvPr/>
          </p:nvSpPr>
          <p:spPr>
            <a:xfrm>
              <a:off x="91753" y="5794343"/>
              <a:ext cx="136144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5" dirty="0">
                  <a:solidFill>
                    <a:srgbClr val="FFFFFF"/>
                  </a:solidFill>
                  <a:latin typeface="Cambria"/>
                </a:rPr>
                <a:t>Objectives</a:t>
              </a:r>
              <a:endParaRPr sz="24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3CA0B0A-76A9-6A0C-0DE9-A9CFA7FC1DF2}"/>
                </a:ext>
              </a:extLst>
            </p:cNvPr>
            <p:cNvSpPr txBox="1"/>
            <p:nvPr/>
          </p:nvSpPr>
          <p:spPr>
            <a:xfrm>
              <a:off x="40135" y="6603152"/>
              <a:ext cx="24030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spc="-4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References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65573D7-5C1B-C654-D4F2-439EE23D9F88}"/>
              </a:ext>
            </a:extLst>
          </p:cNvPr>
          <p:cNvSpPr txBox="1"/>
          <p:nvPr/>
        </p:nvSpPr>
        <p:spPr>
          <a:xfrm>
            <a:off x="7441791" y="9287581"/>
            <a:ext cx="9195618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r>
              <a:rPr lang="en-US" sz="20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PISA: PORTABLE IOT SECURITY ASSESSMENT PLATFORM</a:t>
            </a:r>
          </a:p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endParaRPr lang="en-US" sz="4400" b="1" dirty="0">
              <a:solidFill>
                <a:schemeClr val="bg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FDD3A3-5EF8-B456-40FD-1E60272B6628}"/>
              </a:ext>
            </a:extLst>
          </p:cNvPr>
          <p:cNvSpPr txBox="1"/>
          <p:nvPr/>
        </p:nvSpPr>
        <p:spPr>
          <a:xfrm>
            <a:off x="14787300" y="9908037"/>
            <a:ext cx="8192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By me</a:t>
            </a: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5FF6A79-ACD8-A071-A4FC-6DBCB5C52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682896"/>
              </p:ext>
            </p:extLst>
          </p:nvPr>
        </p:nvGraphicFramePr>
        <p:xfrm>
          <a:off x="4036525" y="2571611"/>
          <a:ext cx="13884908" cy="5345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8075">
                  <a:extLst>
                    <a:ext uri="{9D8B030D-6E8A-4147-A177-3AD203B41FA5}">
                      <a16:colId xmlns:a16="http://schemas.microsoft.com/office/drawing/2014/main" val="3651186833"/>
                    </a:ext>
                  </a:extLst>
                </a:gridCol>
                <a:gridCol w="7786833">
                  <a:extLst>
                    <a:ext uri="{9D8B030D-6E8A-4147-A177-3AD203B41FA5}">
                      <a16:colId xmlns:a16="http://schemas.microsoft.com/office/drawing/2014/main" val="1064641869"/>
                    </a:ext>
                  </a:extLst>
                </a:gridCol>
              </a:tblGrid>
              <a:tr h="703302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Varga et al. [P20]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What PISA does uniquely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695098"/>
                  </a:ext>
                </a:extLst>
              </a:tr>
              <a:tr h="703302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</a:t>
                      </a:r>
                      <a:r>
                        <a:rPr lang="en-IN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posture scoring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WSPS passive beacon-level WPA grade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671443"/>
                  </a:ext>
                </a:extLst>
              </a:tr>
              <a:tr h="1265944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cross-protocol fingerprinting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Deterministic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MQTT+CoAP+HTTP+RTSP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engine (no ML)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150775"/>
                  </a:ext>
                </a:extLst>
              </a:tr>
              <a:tr h="126594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real-time CVE scoring on edge 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Tri-metric </a:t>
                      </a:r>
                      <a:r>
                        <a:rPr lang="en-IN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ExploitScore</a:t>
                      </a:r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l-GR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α·</a:t>
                      </a:r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CVSS + </a:t>
                      </a:r>
                      <a:r>
                        <a:rPr lang="el-GR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β·</a:t>
                      </a:r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EPSS + </a:t>
                      </a:r>
                      <a:r>
                        <a:rPr lang="el-GR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γ·</a:t>
                      </a:r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KEV locally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583335"/>
                  </a:ext>
                </a:extLst>
              </a:tr>
              <a:tr h="703302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unified discovery-to-exploit pipeline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Modules M0→M4 in one portable tool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832890"/>
                  </a:ext>
                </a:extLst>
              </a:tr>
              <a:tr h="703302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authorization gate for exploit execution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5-second manual confirmation gate (from P19) 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801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44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1CBC8-9622-4DF6-6655-32EB54324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EA67D66-2E94-17B4-3B19-69BE2028A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lnSpc>
                <a:spcPct val="100000"/>
              </a:lnSpc>
              <a:spcBef>
                <a:spcPts val="100"/>
              </a:spcBef>
            </a:pPr>
            <a:r>
              <a:rPr lang="en-US" spc="-40" dirty="0" err="1">
                <a:solidFill>
                  <a:srgbClr val="A3123F"/>
                </a:solidFill>
                <a:latin typeface="Georgia"/>
              </a:rPr>
              <a:t>Objecti</a:t>
            </a:r>
            <a:r>
              <a:rPr lang="en-US" spc="-40" dirty="0">
                <a:solidFill>
                  <a:srgbClr val="A3123F"/>
                </a:solidFill>
                <a:latin typeface="Georgia"/>
              </a:rPr>
              <a:t>ves</a:t>
            </a:r>
            <a:endParaRPr lang="en-US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F55876D-64CF-5A78-F48E-6B1527B239CD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96D9787-E6B7-4BAE-04A4-EA65DC865455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986A682-7FB8-D659-BEE8-E680FE8C88D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C07117E-D554-6EDA-4886-D105193637C4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66FB0099-A5D4-A502-09FD-A1DD88318CE8}"/>
              </a:ext>
            </a:extLst>
          </p:cNvPr>
          <p:cNvSpPr/>
          <p:nvPr/>
        </p:nvSpPr>
        <p:spPr>
          <a:xfrm>
            <a:off x="3592205" y="1944767"/>
            <a:ext cx="502920" cy="502920"/>
          </a:xfrm>
          <a:prstGeom prst="rect">
            <a:avLst/>
          </a:prstGeom>
          <a:solidFill>
            <a:srgbClr val="7B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77ADB6-8F72-68F8-5949-B9250EC1C775}"/>
              </a:ext>
            </a:extLst>
          </p:cNvPr>
          <p:cNvSpPr txBox="1"/>
          <p:nvPr/>
        </p:nvSpPr>
        <p:spPr>
          <a:xfrm>
            <a:off x="4204853" y="1835039"/>
            <a:ext cx="13926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>
                <a:solidFill>
                  <a:srgbClr val="7B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O1 -- Passive WiFi Security Posture Assessment (WSPS)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FB1B6C-A3AC-A5C3-87AE-266C0484F6C2}"/>
              </a:ext>
            </a:extLst>
          </p:cNvPr>
          <p:cNvSpPr txBox="1"/>
          <p:nvPr/>
        </p:nvSpPr>
        <p:spPr>
          <a:xfrm>
            <a:off x="4204853" y="2237375"/>
            <a:ext cx="139263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 IEEE 802.11 beacon frames via monitor mode; score each network on 8 factors: encryption strength, WPS status, hidden SSID, OUI-CVE match, channel congestion, beacon anomaly rate, vendor risk score, and WPA3 downgrade detection.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1F27D1-2EF2-8019-EB77-5D58583D2FF5}"/>
              </a:ext>
            </a:extLst>
          </p:cNvPr>
          <p:cNvSpPr txBox="1"/>
          <p:nvPr/>
        </p:nvSpPr>
        <p:spPr>
          <a:xfrm>
            <a:off x="4204853" y="2914031"/>
            <a:ext cx="13926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>
                <a:solidFill>
                  <a:srgbClr val="7B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Target: A-F WSPS grade per network  |  &lt;30s per scan  |  zero traffic injection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03EEE6-7A77-2EC0-1B90-F3E042CFE761}"/>
              </a:ext>
            </a:extLst>
          </p:cNvPr>
          <p:cNvSpPr/>
          <p:nvPr/>
        </p:nvSpPr>
        <p:spPr>
          <a:xfrm>
            <a:off x="3592205" y="3549423"/>
            <a:ext cx="502920" cy="502920"/>
          </a:xfrm>
          <a:prstGeom prst="rect">
            <a:avLst/>
          </a:prstGeom>
          <a:solidFill>
            <a:srgbClr val="1F396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FEE492-A0B4-9761-01DB-FC0022706715}"/>
              </a:ext>
            </a:extLst>
          </p:cNvPr>
          <p:cNvSpPr txBox="1"/>
          <p:nvPr/>
        </p:nvSpPr>
        <p:spPr>
          <a:xfrm>
            <a:off x="4204853" y="3439695"/>
            <a:ext cx="13926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>
                <a:solidFill>
                  <a:srgbClr val="1F39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O2 -- Protocol-Aware IoT Device Fingerprinting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723769-AFDC-C0D7-2742-B0C44AB4006A}"/>
              </a:ext>
            </a:extLst>
          </p:cNvPr>
          <p:cNvSpPr txBox="1"/>
          <p:nvPr/>
        </p:nvSpPr>
        <p:spPr>
          <a:xfrm>
            <a:off x="4204853" y="3842031"/>
            <a:ext cx="139263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IoT devices via behavioral signatures across MQTT, CoAP, HTTP, Modbus, and RTSP using deterministic protocol state machines. OUI-to-CVE correlation via beacon BSSID for routers. No ML required.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35CCC4-26D5-8567-88C8-66F5AAD1B0BB}"/>
              </a:ext>
            </a:extLst>
          </p:cNvPr>
          <p:cNvSpPr txBox="1"/>
          <p:nvPr/>
        </p:nvSpPr>
        <p:spPr>
          <a:xfrm>
            <a:off x="4204853" y="4518687"/>
            <a:ext cx="13926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 dirty="0">
                <a:solidFill>
                  <a:srgbClr val="1F39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Target: &gt;85% fingerprint accuracy  |  &lt;5% false positive rate  |  zero ML training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97064F-8D4E-58D8-8254-07F0B10DEFA0}"/>
              </a:ext>
            </a:extLst>
          </p:cNvPr>
          <p:cNvSpPr/>
          <p:nvPr/>
        </p:nvSpPr>
        <p:spPr>
          <a:xfrm>
            <a:off x="3604495" y="5139860"/>
            <a:ext cx="502920" cy="502920"/>
          </a:xfrm>
          <a:prstGeom prst="rect">
            <a:avLst/>
          </a:prstGeom>
          <a:solidFill>
            <a:srgbClr val="00707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927674-3C6D-A301-8A70-344104762B05}"/>
              </a:ext>
            </a:extLst>
          </p:cNvPr>
          <p:cNvSpPr txBox="1"/>
          <p:nvPr/>
        </p:nvSpPr>
        <p:spPr>
          <a:xfrm>
            <a:off x="4217143" y="5030132"/>
            <a:ext cx="13926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dirty="0">
                <a:solidFill>
                  <a:srgbClr val="0070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O3 -- Tri-Metric CVE Exploitability Scoring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5F8242-ED89-671C-1613-B3592B53A912}"/>
              </a:ext>
            </a:extLst>
          </p:cNvPr>
          <p:cNvSpPr txBox="1"/>
          <p:nvPr/>
        </p:nvSpPr>
        <p:spPr>
          <a:xfrm>
            <a:off x="4217143" y="5432468"/>
            <a:ext cx="139263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fingerprinted device, query NVD REST API + EPSS (FIRST.org) + CISA KEV catalog. Compute ExploitScore = CVSS_norm x (1 + 1.5xEPSS) x KEV_multiplier x Access_factor. Trigger SNS alert on KEV match.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F542F2-948A-037A-A63B-84B3756E7330}"/>
              </a:ext>
            </a:extLst>
          </p:cNvPr>
          <p:cNvSpPr txBox="1"/>
          <p:nvPr/>
        </p:nvSpPr>
        <p:spPr>
          <a:xfrm>
            <a:off x="4217143" y="6109124"/>
            <a:ext cx="13926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>
                <a:solidFill>
                  <a:srgbClr val="0070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Target: Real-time CVE correlation  |  CISA KEV alert within 10s of device discovery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771445-C6D0-292F-69CA-C5C362E5EC5C}"/>
              </a:ext>
            </a:extLst>
          </p:cNvPr>
          <p:cNvSpPr/>
          <p:nvPr/>
        </p:nvSpPr>
        <p:spPr>
          <a:xfrm>
            <a:off x="3604495" y="6672031"/>
            <a:ext cx="502920" cy="502920"/>
          </a:xfrm>
          <a:prstGeom prst="rect">
            <a:avLst/>
          </a:prstGeom>
          <a:solidFill>
            <a:srgbClr val="C05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0C7F4B-B7AA-3F6C-D59D-344785B22251}"/>
              </a:ext>
            </a:extLst>
          </p:cNvPr>
          <p:cNvSpPr txBox="1"/>
          <p:nvPr/>
        </p:nvSpPr>
        <p:spPr>
          <a:xfrm>
            <a:off x="4217143" y="6562303"/>
            <a:ext cx="13926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>
                <a:solidFill>
                  <a:srgbClr val="C0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O4 -- Cross-Protocol Confidence Fusion &amp; Drift Detection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739077-949A-4B01-1885-B252A4D60A21}"/>
              </a:ext>
            </a:extLst>
          </p:cNvPr>
          <p:cNvSpPr txBox="1"/>
          <p:nvPr/>
        </p:nvSpPr>
        <p:spPr>
          <a:xfrm>
            <a:off x="4217143" y="6964639"/>
            <a:ext cx="139263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Fuse fingerprint confidence from multiple protocols: combined = 1 - prod(1 - ci). Detect behavioral drift across sessions using deepdiff on fingerprint state snapshots. Alert on significant device behavior change.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5F7FA1-796D-8335-D943-197756F4D4EF}"/>
              </a:ext>
            </a:extLst>
          </p:cNvPr>
          <p:cNvSpPr txBox="1"/>
          <p:nvPr/>
        </p:nvSpPr>
        <p:spPr>
          <a:xfrm>
            <a:off x="4217143" y="7641295"/>
            <a:ext cx="13926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>
                <a:solidFill>
                  <a:srgbClr val="C0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Target: &gt;90% device re-identification accuracy  |  drift alert &lt;5s of detection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34D0672-4510-9F6B-278B-DBFBC9D7AED3}"/>
              </a:ext>
            </a:extLst>
          </p:cNvPr>
          <p:cNvSpPr/>
          <p:nvPr/>
        </p:nvSpPr>
        <p:spPr>
          <a:xfrm>
            <a:off x="3604495" y="8231969"/>
            <a:ext cx="502920" cy="502920"/>
          </a:xfrm>
          <a:prstGeom prst="rect">
            <a:avLst/>
          </a:prstGeom>
          <a:solidFill>
            <a:srgbClr val="1F6B3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E69B35-5EE5-1BD6-B50F-A1C044030BB2}"/>
              </a:ext>
            </a:extLst>
          </p:cNvPr>
          <p:cNvSpPr txBox="1"/>
          <p:nvPr/>
        </p:nvSpPr>
        <p:spPr>
          <a:xfrm>
            <a:off x="4217143" y="8122241"/>
            <a:ext cx="13926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>
                <a:solidFill>
                  <a:srgbClr val="1F6B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O5 -- Field Validation &amp; IEEE IoT Journal Publication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AE28F8-2D82-BB48-262F-14E05611C3C5}"/>
              </a:ext>
            </a:extLst>
          </p:cNvPr>
          <p:cNvSpPr txBox="1"/>
          <p:nvPr/>
        </p:nvSpPr>
        <p:spPr>
          <a:xfrm>
            <a:off x="4217143" y="8524577"/>
            <a:ext cx="139263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PISA on RPi 5; assess 20+ real devices across 5 categories (router, IP camera, smart sensor, smart plug, industrial controller). Submit Paper B to IEEE Internet of Things Journal (IF 8.2, Q1).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E79E66D-C568-E13D-AD4D-453B2AA610D4}"/>
              </a:ext>
            </a:extLst>
          </p:cNvPr>
          <p:cNvGrpSpPr/>
          <p:nvPr/>
        </p:nvGrpSpPr>
        <p:grpSpPr>
          <a:xfrm>
            <a:off x="40135" y="3655375"/>
            <a:ext cx="3192964" cy="3409442"/>
            <a:chOff x="40135" y="3655375"/>
            <a:chExt cx="3192964" cy="3409442"/>
          </a:xfrm>
        </p:grpSpPr>
        <p:sp>
          <p:nvSpPr>
            <p:cNvPr id="72" name="object 11">
              <a:extLst>
                <a:ext uri="{FF2B5EF4-FFF2-40B4-BE49-F238E27FC236}">
                  <a16:creationId xmlns:a16="http://schemas.microsoft.com/office/drawing/2014/main" id="{B2AE54CB-763F-E6C6-79BD-7E8FB0B65D1E}"/>
                </a:ext>
              </a:extLst>
            </p:cNvPr>
            <p:cNvSpPr txBox="1"/>
            <p:nvPr/>
          </p:nvSpPr>
          <p:spPr>
            <a:xfrm>
              <a:off x="79826" y="4967610"/>
              <a:ext cx="282538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Literature Search</a:t>
              </a:r>
              <a:endParaRPr sz="2400" spc="-50" dirty="0">
                <a:solidFill>
                  <a:srgbClr val="FFFFFF"/>
                </a:solidFill>
                <a:latin typeface="Cambria"/>
                <a:cs typeface="Cambria"/>
              </a:endParaRPr>
            </a:p>
          </p:txBody>
        </p:sp>
        <p:sp>
          <p:nvSpPr>
            <p:cNvPr id="73" name="object 14">
              <a:extLst>
                <a:ext uri="{FF2B5EF4-FFF2-40B4-BE49-F238E27FC236}">
                  <a16:creationId xmlns:a16="http://schemas.microsoft.com/office/drawing/2014/main" id="{7701992B-0376-B321-C387-2CD58F14E290}"/>
                </a:ext>
              </a:extLst>
            </p:cNvPr>
            <p:cNvSpPr txBox="1"/>
            <p:nvPr/>
          </p:nvSpPr>
          <p:spPr>
            <a:xfrm>
              <a:off x="91753" y="6237920"/>
              <a:ext cx="3141346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</a:rPr>
                <a:t>Architecture Diagram</a:t>
              </a:r>
              <a:endParaRPr sz="2400" dirty="0"/>
            </a:p>
          </p:txBody>
        </p:sp>
        <p:sp>
          <p:nvSpPr>
            <p:cNvPr id="74" name="object 7">
              <a:extLst>
                <a:ext uri="{FF2B5EF4-FFF2-40B4-BE49-F238E27FC236}">
                  <a16:creationId xmlns:a16="http://schemas.microsoft.com/office/drawing/2014/main" id="{EFD2EF15-CA2C-D041-D811-16AC994E0757}"/>
                </a:ext>
              </a:extLst>
            </p:cNvPr>
            <p:cNvSpPr txBox="1"/>
            <p:nvPr/>
          </p:nvSpPr>
          <p:spPr>
            <a:xfrm>
              <a:off x="74559" y="4077070"/>
              <a:ext cx="245745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5" dirty="0">
                  <a:solidFill>
                    <a:schemeClr val="bg1"/>
                  </a:solidFill>
                  <a:latin typeface="Cambria"/>
                  <a:cs typeface="Cambria"/>
                </a:rPr>
                <a:t>Problem</a:t>
              </a:r>
              <a:r>
                <a:rPr sz="2400" spc="-6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400" spc="-45" dirty="0">
                  <a:solidFill>
                    <a:schemeClr val="bg1"/>
                  </a:solidFill>
                  <a:latin typeface="Cambria"/>
                  <a:cs typeface="Cambria"/>
                </a:rPr>
                <a:t>Statement</a:t>
              </a:r>
              <a:endParaRPr sz="2400" dirty="0">
                <a:solidFill>
                  <a:schemeClr val="bg1"/>
                </a:solidFill>
                <a:latin typeface="Cambria"/>
                <a:cs typeface="Cambria"/>
              </a:endParaRPr>
            </a:p>
          </p:txBody>
        </p:sp>
        <p:sp>
          <p:nvSpPr>
            <p:cNvPr id="75" name="object 9">
              <a:extLst>
                <a:ext uri="{FF2B5EF4-FFF2-40B4-BE49-F238E27FC236}">
                  <a16:creationId xmlns:a16="http://schemas.microsoft.com/office/drawing/2014/main" id="{6DC97916-32A1-3A34-C667-610F35BDB737}"/>
                </a:ext>
              </a:extLst>
            </p:cNvPr>
            <p:cNvSpPr txBox="1"/>
            <p:nvPr/>
          </p:nvSpPr>
          <p:spPr>
            <a:xfrm>
              <a:off x="79475" y="3655375"/>
              <a:ext cx="1721848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0" dirty="0">
                  <a:solidFill>
                    <a:schemeClr val="bg1"/>
                  </a:solidFill>
                  <a:latin typeface="Cambria"/>
                  <a:ea typeface="Cambria"/>
                </a:rPr>
                <a:t>Motivation</a:t>
              </a:r>
              <a:endParaRPr lang="en-US" sz="2400" dirty="0">
                <a:solidFill>
                  <a:schemeClr val="bg1"/>
                </a:solidFill>
                <a:latin typeface="Cambria"/>
                <a:ea typeface="Cambria"/>
              </a:endParaRPr>
            </a:p>
          </p:txBody>
        </p:sp>
        <p:sp>
          <p:nvSpPr>
            <p:cNvPr id="76" name="object 10">
              <a:extLst>
                <a:ext uri="{FF2B5EF4-FFF2-40B4-BE49-F238E27FC236}">
                  <a16:creationId xmlns:a16="http://schemas.microsoft.com/office/drawing/2014/main" id="{12BB3062-39A3-F530-790E-98C1DA82E229}"/>
                </a:ext>
              </a:extLst>
            </p:cNvPr>
            <p:cNvSpPr txBox="1"/>
            <p:nvPr/>
          </p:nvSpPr>
          <p:spPr>
            <a:xfrm>
              <a:off x="77006" y="4569332"/>
              <a:ext cx="2541904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60" dirty="0">
                  <a:solidFill>
                    <a:srgbClr val="FFFFFF"/>
                  </a:solidFill>
                  <a:latin typeface="Cambria"/>
                  <a:cs typeface="Cambria"/>
                </a:rPr>
                <a:t>Literature</a:t>
              </a:r>
              <a:r>
                <a:rPr sz="2400" spc="-65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2400" spc="-30" dirty="0">
                  <a:solidFill>
                    <a:srgbClr val="FFFFFF"/>
                  </a:solidFill>
                  <a:latin typeface="Cambria"/>
                  <a:cs typeface="Cambria"/>
                </a:rPr>
                <a:t>Survey</a:t>
              </a:r>
              <a:endParaRPr sz="2400" dirty="0">
                <a:latin typeface="Cambria"/>
                <a:cs typeface="Cambria"/>
              </a:endParaRPr>
            </a:p>
          </p:txBody>
        </p:sp>
        <p:sp>
          <p:nvSpPr>
            <p:cNvPr id="77" name="object 12">
              <a:extLst>
                <a:ext uri="{FF2B5EF4-FFF2-40B4-BE49-F238E27FC236}">
                  <a16:creationId xmlns:a16="http://schemas.microsoft.com/office/drawing/2014/main" id="{0E749B9E-A94C-D472-A3A7-2FC207EEE7A9}"/>
                </a:ext>
              </a:extLst>
            </p:cNvPr>
            <p:cNvSpPr txBox="1"/>
            <p:nvPr/>
          </p:nvSpPr>
          <p:spPr>
            <a:xfrm>
              <a:off x="91753" y="5373260"/>
              <a:ext cx="254190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6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Research Gaps</a:t>
              </a:r>
            </a:p>
          </p:txBody>
        </p:sp>
        <p:sp>
          <p:nvSpPr>
            <p:cNvPr id="78" name="object 13">
              <a:extLst>
                <a:ext uri="{FF2B5EF4-FFF2-40B4-BE49-F238E27FC236}">
                  <a16:creationId xmlns:a16="http://schemas.microsoft.com/office/drawing/2014/main" id="{6D9F6098-ABB9-F5A7-FA53-0969F0F55157}"/>
                </a:ext>
              </a:extLst>
            </p:cNvPr>
            <p:cNvSpPr txBox="1"/>
            <p:nvPr/>
          </p:nvSpPr>
          <p:spPr>
            <a:xfrm>
              <a:off x="91752" y="5794343"/>
              <a:ext cx="1584647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b="1" spc="-55" dirty="0">
                  <a:solidFill>
                    <a:srgbClr val="FFC000"/>
                  </a:solidFill>
                  <a:latin typeface="Cambria"/>
                </a:rPr>
                <a:t>Objectives</a:t>
              </a:r>
              <a:endParaRPr sz="2400" b="1" dirty="0">
                <a:solidFill>
                  <a:srgbClr val="FFC000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F1C7BCC-6AB1-10CA-528E-EEB090EC7184}"/>
                </a:ext>
              </a:extLst>
            </p:cNvPr>
            <p:cNvSpPr txBox="1"/>
            <p:nvPr/>
          </p:nvSpPr>
          <p:spPr>
            <a:xfrm>
              <a:off x="40135" y="6603152"/>
              <a:ext cx="24030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spc="-4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References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BA55AAC-247D-532D-27B0-35B8608D6D15}"/>
              </a:ext>
            </a:extLst>
          </p:cNvPr>
          <p:cNvSpPr txBox="1"/>
          <p:nvPr/>
        </p:nvSpPr>
        <p:spPr>
          <a:xfrm>
            <a:off x="7441791" y="9287581"/>
            <a:ext cx="9195618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r>
              <a:rPr lang="en-US" sz="20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PISA: PORTABLE IOT SECURITY ASSESSMENT PLATFORM</a:t>
            </a:r>
          </a:p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endParaRPr lang="en-US" sz="4400" b="1" dirty="0">
              <a:solidFill>
                <a:schemeClr val="bg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32EBEA-8E3D-619B-8B75-EAF2D271862F}"/>
              </a:ext>
            </a:extLst>
          </p:cNvPr>
          <p:cNvSpPr txBox="1"/>
          <p:nvPr/>
        </p:nvSpPr>
        <p:spPr>
          <a:xfrm>
            <a:off x="10668000" y="9905545"/>
            <a:ext cx="487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PINNEMCHARLA SAI VIVEK REDDY  |  CH.SC.U4CYS23034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8329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0621D-F11D-905B-12EB-845B0AF5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E997ADB-775A-7C7F-033E-3A1E1D921E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spcBef>
                <a:spcPts val="100"/>
              </a:spcBef>
            </a:pPr>
            <a:r>
              <a:rPr lang="en-US" spc="-40">
                <a:solidFill>
                  <a:srgbClr val="A3123F"/>
                </a:solidFill>
                <a:latin typeface="Georgia"/>
              </a:rPr>
              <a:t>Architecture Diagram</a:t>
            </a:r>
            <a:endParaRPr lang="en-US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3E93B84-7EFC-844B-FEFE-B64168730CBF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2D71239-78F2-BEF1-F4C3-293320727AAE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2D820937-676E-790E-82C9-48D87B1A85B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AA717D3-AA74-8733-F196-58743CE7472B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7506E82-06AD-9218-E7E0-3269BB06AC89}"/>
              </a:ext>
            </a:extLst>
          </p:cNvPr>
          <p:cNvGrpSpPr/>
          <p:nvPr/>
        </p:nvGrpSpPr>
        <p:grpSpPr>
          <a:xfrm>
            <a:off x="40135" y="3655375"/>
            <a:ext cx="3192964" cy="3409442"/>
            <a:chOff x="40135" y="3655375"/>
            <a:chExt cx="3192964" cy="3409442"/>
          </a:xfrm>
        </p:grpSpPr>
        <p:sp>
          <p:nvSpPr>
            <p:cNvPr id="24" name="object 11">
              <a:extLst>
                <a:ext uri="{FF2B5EF4-FFF2-40B4-BE49-F238E27FC236}">
                  <a16:creationId xmlns:a16="http://schemas.microsoft.com/office/drawing/2014/main" id="{31B7683E-02D4-31B2-2A12-190BAF4E7D2B}"/>
                </a:ext>
              </a:extLst>
            </p:cNvPr>
            <p:cNvSpPr txBox="1"/>
            <p:nvPr/>
          </p:nvSpPr>
          <p:spPr>
            <a:xfrm>
              <a:off x="79826" y="4967610"/>
              <a:ext cx="282538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Literature Search</a:t>
              </a:r>
              <a:endParaRPr sz="2400" spc="-50" dirty="0">
                <a:solidFill>
                  <a:srgbClr val="FFFFFF"/>
                </a:solidFill>
                <a:latin typeface="Cambria"/>
                <a:cs typeface="Cambria"/>
              </a:endParaRPr>
            </a:p>
          </p:txBody>
        </p:sp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085BCBD7-E29E-38B2-612A-AAED1F724989}"/>
                </a:ext>
              </a:extLst>
            </p:cNvPr>
            <p:cNvSpPr txBox="1"/>
            <p:nvPr/>
          </p:nvSpPr>
          <p:spPr>
            <a:xfrm>
              <a:off x="91753" y="6237920"/>
              <a:ext cx="3141346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b="1" spc="-50" dirty="0">
                  <a:solidFill>
                    <a:srgbClr val="FFC000"/>
                  </a:solidFill>
                  <a:latin typeface="Cambria"/>
                </a:rPr>
                <a:t>Architecture Diagram</a:t>
              </a:r>
              <a:endParaRPr sz="2400" b="1" dirty="0">
                <a:solidFill>
                  <a:srgbClr val="FFC000"/>
                </a:solidFill>
              </a:endParaRPr>
            </a:p>
          </p:txBody>
        </p:sp>
        <p:sp>
          <p:nvSpPr>
            <p:cNvPr id="26" name="object 7">
              <a:extLst>
                <a:ext uri="{FF2B5EF4-FFF2-40B4-BE49-F238E27FC236}">
                  <a16:creationId xmlns:a16="http://schemas.microsoft.com/office/drawing/2014/main" id="{385CBA06-C2BD-4B73-4566-A94FEEEF47D1}"/>
                </a:ext>
              </a:extLst>
            </p:cNvPr>
            <p:cNvSpPr txBox="1"/>
            <p:nvPr/>
          </p:nvSpPr>
          <p:spPr>
            <a:xfrm>
              <a:off x="74559" y="4077070"/>
              <a:ext cx="245745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5" dirty="0">
                  <a:solidFill>
                    <a:schemeClr val="bg1"/>
                  </a:solidFill>
                  <a:latin typeface="Cambria"/>
                  <a:cs typeface="Cambria"/>
                </a:rPr>
                <a:t>Problem</a:t>
              </a:r>
              <a:r>
                <a:rPr sz="2400" spc="-6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400" spc="-45" dirty="0">
                  <a:solidFill>
                    <a:schemeClr val="bg1"/>
                  </a:solidFill>
                  <a:latin typeface="Cambria"/>
                  <a:cs typeface="Cambria"/>
                </a:rPr>
                <a:t>Statement</a:t>
              </a:r>
              <a:endParaRPr sz="2400" dirty="0">
                <a:solidFill>
                  <a:schemeClr val="bg1"/>
                </a:solidFill>
                <a:latin typeface="Cambria"/>
                <a:cs typeface="Cambria"/>
              </a:endParaRPr>
            </a:p>
          </p:txBody>
        </p:sp>
        <p:sp>
          <p:nvSpPr>
            <p:cNvPr id="27" name="object 9">
              <a:extLst>
                <a:ext uri="{FF2B5EF4-FFF2-40B4-BE49-F238E27FC236}">
                  <a16:creationId xmlns:a16="http://schemas.microsoft.com/office/drawing/2014/main" id="{BF95D898-0159-1643-F97E-BD87EC82F549}"/>
                </a:ext>
              </a:extLst>
            </p:cNvPr>
            <p:cNvSpPr txBox="1"/>
            <p:nvPr/>
          </p:nvSpPr>
          <p:spPr>
            <a:xfrm>
              <a:off x="79475" y="3655375"/>
              <a:ext cx="1721848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0" dirty="0">
                  <a:solidFill>
                    <a:schemeClr val="bg1"/>
                  </a:solidFill>
                  <a:latin typeface="Cambria"/>
                  <a:ea typeface="Cambria"/>
                </a:rPr>
                <a:t>Motivation</a:t>
              </a:r>
              <a:endParaRPr lang="en-US" sz="2400" dirty="0">
                <a:solidFill>
                  <a:schemeClr val="bg1"/>
                </a:solidFill>
                <a:latin typeface="Cambria"/>
                <a:ea typeface="Cambria"/>
              </a:endParaRPr>
            </a:p>
          </p:txBody>
        </p:sp>
        <p:sp>
          <p:nvSpPr>
            <p:cNvPr id="28" name="object 10">
              <a:extLst>
                <a:ext uri="{FF2B5EF4-FFF2-40B4-BE49-F238E27FC236}">
                  <a16:creationId xmlns:a16="http://schemas.microsoft.com/office/drawing/2014/main" id="{D85026D2-CAE8-8C21-2BA9-4D1D8684B729}"/>
                </a:ext>
              </a:extLst>
            </p:cNvPr>
            <p:cNvSpPr txBox="1"/>
            <p:nvPr/>
          </p:nvSpPr>
          <p:spPr>
            <a:xfrm>
              <a:off x="77006" y="4569332"/>
              <a:ext cx="2541904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60" dirty="0">
                  <a:solidFill>
                    <a:srgbClr val="FFFFFF"/>
                  </a:solidFill>
                  <a:latin typeface="Cambria"/>
                  <a:cs typeface="Cambria"/>
                </a:rPr>
                <a:t>Literature</a:t>
              </a:r>
              <a:r>
                <a:rPr sz="2400" spc="-65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2400" spc="-30" dirty="0">
                  <a:solidFill>
                    <a:srgbClr val="FFFFFF"/>
                  </a:solidFill>
                  <a:latin typeface="Cambria"/>
                  <a:cs typeface="Cambria"/>
                </a:rPr>
                <a:t>Survey</a:t>
              </a:r>
              <a:endParaRPr sz="2400" dirty="0">
                <a:latin typeface="Cambria"/>
                <a:cs typeface="Cambria"/>
              </a:endParaRPr>
            </a:p>
          </p:txBody>
        </p:sp>
        <p:sp>
          <p:nvSpPr>
            <p:cNvPr id="29" name="object 12">
              <a:extLst>
                <a:ext uri="{FF2B5EF4-FFF2-40B4-BE49-F238E27FC236}">
                  <a16:creationId xmlns:a16="http://schemas.microsoft.com/office/drawing/2014/main" id="{0454673C-14A3-B049-F64C-E5CAB61DC2AC}"/>
                </a:ext>
              </a:extLst>
            </p:cNvPr>
            <p:cNvSpPr txBox="1"/>
            <p:nvPr/>
          </p:nvSpPr>
          <p:spPr>
            <a:xfrm>
              <a:off x="91753" y="5373260"/>
              <a:ext cx="254190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6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Research Gaps</a:t>
              </a:r>
            </a:p>
          </p:txBody>
        </p:sp>
        <p:sp>
          <p:nvSpPr>
            <p:cNvPr id="31" name="object 13">
              <a:extLst>
                <a:ext uri="{FF2B5EF4-FFF2-40B4-BE49-F238E27FC236}">
                  <a16:creationId xmlns:a16="http://schemas.microsoft.com/office/drawing/2014/main" id="{5C30E636-8FDD-ACBB-B04B-AB0AE5FEDEE8}"/>
                </a:ext>
              </a:extLst>
            </p:cNvPr>
            <p:cNvSpPr txBox="1"/>
            <p:nvPr/>
          </p:nvSpPr>
          <p:spPr>
            <a:xfrm>
              <a:off x="91753" y="5794343"/>
              <a:ext cx="136144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5" dirty="0">
                  <a:solidFill>
                    <a:srgbClr val="FFFFFF"/>
                  </a:solidFill>
                  <a:latin typeface="Cambria"/>
                </a:rPr>
                <a:t>Objectives</a:t>
              </a:r>
              <a:endParaRPr sz="2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1BD02BA-E7A4-A2D8-C4DF-E22FD27CB112}"/>
                </a:ext>
              </a:extLst>
            </p:cNvPr>
            <p:cNvSpPr txBox="1"/>
            <p:nvPr/>
          </p:nvSpPr>
          <p:spPr>
            <a:xfrm>
              <a:off x="40135" y="6603152"/>
              <a:ext cx="24030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spc="-4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References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155596B-9CEF-8196-6CE8-50C15C0ACFCA}"/>
              </a:ext>
            </a:extLst>
          </p:cNvPr>
          <p:cNvSpPr txBox="1"/>
          <p:nvPr/>
        </p:nvSpPr>
        <p:spPr>
          <a:xfrm>
            <a:off x="7441791" y="9287581"/>
            <a:ext cx="9195618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r>
              <a:rPr lang="en-US" sz="20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PISA: PORTABLE IOT SECURITY ASSESSMENT PLATFORM</a:t>
            </a:r>
          </a:p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endParaRPr lang="en-US" sz="4400" b="1" dirty="0">
              <a:solidFill>
                <a:schemeClr val="bg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B47B55-B955-45C0-B8C3-F95F5D23EADD}"/>
              </a:ext>
            </a:extLst>
          </p:cNvPr>
          <p:cNvSpPr txBox="1"/>
          <p:nvPr/>
        </p:nvSpPr>
        <p:spPr>
          <a:xfrm>
            <a:off x="10668000" y="9905545"/>
            <a:ext cx="487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PINNEMCHARLA SAI VIVEK REDDY  |  CH.SC.U4CYS23034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B019D9-6FBE-042E-C915-052F7C697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102" y="1758074"/>
            <a:ext cx="11353800" cy="756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00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E4F2B-AF0C-7147-E35A-D65BAB1C0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9D995AC-5871-8401-DA85-23640AAB30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spcBef>
                <a:spcPts val="100"/>
              </a:spcBef>
            </a:pPr>
            <a:r>
              <a:rPr lang="en-US" spc="-40">
                <a:solidFill>
                  <a:srgbClr val="A3123F"/>
                </a:solidFill>
                <a:latin typeface="Georgia"/>
              </a:rPr>
              <a:t>Architecture Diagram</a:t>
            </a:r>
            <a:endParaRPr lang="en-US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4455E58-420A-B167-904A-72FADB0655DB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EDB10C5-CA6F-805A-A1A8-6CA63FB11CEC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95C4FAB-8C14-4811-2EA0-B87F7F69AFF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FB1DEA7-2FDC-2A1F-6F56-3F2C470D98AA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21005C-5AAB-8FDD-FA80-A6BCAD08B59B}"/>
              </a:ext>
            </a:extLst>
          </p:cNvPr>
          <p:cNvGrpSpPr/>
          <p:nvPr/>
        </p:nvGrpSpPr>
        <p:grpSpPr>
          <a:xfrm>
            <a:off x="40135" y="3655375"/>
            <a:ext cx="3192964" cy="3409442"/>
            <a:chOff x="40135" y="3655375"/>
            <a:chExt cx="3192964" cy="3409442"/>
          </a:xfrm>
        </p:grpSpPr>
        <p:sp>
          <p:nvSpPr>
            <p:cNvPr id="24" name="object 11">
              <a:extLst>
                <a:ext uri="{FF2B5EF4-FFF2-40B4-BE49-F238E27FC236}">
                  <a16:creationId xmlns:a16="http://schemas.microsoft.com/office/drawing/2014/main" id="{D2E5384E-7923-B8B1-AD84-D46528080029}"/>
                </a:ext>
              </a:extLst>
            </p:cNvPr>
            <p:cNvSpPr txBox="1"/>
            <p:nvPr/>
          </p:nvSpPr>
          <p:spPr>
            <a:xfrm>
              <a:off x="79826" y="4967610"/>
              <a:ext cx="282538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Literature Search</a:t>
              </a:r>
              <a:endParaRPr sz="2400" spc="-50" dirty="0">
                <a:solidFill>
                  <a:srgbClr val="FFFFFF"/>
                </a:solidFill>
                <a:latin typeface="Cambria"/>
                <a:cs typeface="Cambria"/>
              </a:endParaRPr>
            </a:p>
          </p:txBody>
        </p:sp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A5C277A1-FE66-3D4E-E82D-D3BDE155B4F5}"/>
                </a:ext>
              </a:extLst>
            </p:cNvPr>
            <p:cNvSpPr txBox="1"/>
            <p:nvPr/>
          </p:nvSpPr>
          <p:spPr>
            <a:xfrm>
              <a:off x="91753" y="6237920"/>
              <a:ext cx="3141346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b="1" spc="-50" dirty="0">
                  <a:solidFill>
                    <a:srgbClr val="FFC000"/>
                  </a:solidFill>
                  <a:latin typeface="Cambria"/>
                </a:rPr>
                <a:t>Architecture Diagram</a:t>
              </a:r>
              <a:endParaRPr sz="2400" b="1" dirty="0">
                <a:solidFill>
                  <a:srgbClr val="FFC000"/>
                </a:solidFill>
              </a:endParaRPr>
            </a:p>
          </p:txBody>
        </p:sp>
        <p:sp>
          <p:nvSpPr>
            <p:cNvPr id="26" name="object 7">
              <a:extLst>
                <a:ext uri="{FF2B5EF4-FFF2-40B4-BE49-F238E27FC236}">
                  <a16:creationId xmlns:a16="http://schemas.microsoft.com/office/drawing/2014/main" id="{A5A47188-29E9-2D9B-AEEA-DC37BA520E5C}"/>
                </a:ext>
              </a:extLst>
            </p:cNvPr>
            <p:cNvSpPr txBox="1"/>
            <p:nvPr/>
          </p:nvSpPr>
          <p:spPr>
            <a:xfrm>
              <a:off x="74559" y="4077070"/>
              <a:ext cx="245745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5" dirty="0">
                  <a:solidFill>
                    <a:schemeClr val="bg1"/>
                  </a:solidFill>
                  <a:latin typeface="Cambria"/>
                  <a:cs typeface="Cambria"/>
                </a:rPr>
                <a:t>Problem</a:t>
              </a:r>
              <a:r>
                <a:rPr sz="2400" spc="-6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400" spc="-45" dirty="0">
                  <a:solidFill>
                    <a:schemeClr val="bg1"/>
                  </a:solidFill>
                  <a:latin typeface="Cambria"/>
                  <a:cs typeface="Cambria"/>
                </a:rPr>
                <a:t>Statement</a:t>
              </a:r>
              <a:endParaRPr sz="2400" dirty="0">
                <a:solidFill>
                  <a:schemeClr val="bg1"/>
                </a:solidFill>
                <a:latin typeface="Cambria"/>
                <a:cs typeface="Cambria"/>
              </a:endParaRPr>
            </a:p>
          </p:txBody>
        </p:sp>
        <p:sp>
          <p:nvSpPr>
            <p:cNvPr id="27" name="object 9">
              <a:extLst>
                <a:ext uri="{FF2B5EF4-FFF2-40B4-BE49-F238E27FC236}">
                  <a16:creationId xmlns:a16="http://schemas.microsoft.com/office/drawing/2014/main" id="{FEA1E069-68E0-08F0-93E0-3562D52F7815}"/>
                </a:ext>
              </a:extLst>
            </p:cNvPr>
            <p:cNvSpPr txBox="1"/>
            <p:nvPr/>
          </p:nvSpPr>
          <p:spPr>
            <a:xfrm>
              <a:off x="79475" y="3655375"/>
              <a:ext cx="1721848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0" dirty="0">
                  <a:solidFill>
                    <a:schemeClr val="bg1"/>
                  </a:solidFill>
                  <a:latin typeface="Cambria"/>
                  <a:ea typeface="Cambria"/>
                </a:rPr>
                <a:t>Motivation</a:t>
              </a:r>
              <a:endParaRPr lang="en-US" sz="2400" dirty="0">
                <a:solidFill>
                  <a:schemeClr val="bg1"/>
                </a:solidFill>
                <a:latin typeface="Cambria"/>
                <a:ea typeface="Cambria"/>
              </a:endParaRPr>
            </a:p>
          </p:txBody>
        </p:sp>
        <p:sp>
          <p:nvSpPr>
            <p:cNvPr id="28" name="object 10">
              <a:extLst>
                <a:ext uri="{FF2B5EF4-FFF2-40B4-BE49-F238E27FC236}">
                  <a16:creationId xmlns:a16="http://schemas.microsoft.com/office/drawing/2014/main" id="{40A9948A-8D09-9495-4B09-A313D74BBC1F}"/>
                </a:ext>
              </a:extLst>
            </p:cNvPr>
            <p:cNvSpPr txBox="1"/>
            <p:nvPr/>
          </p:nvSpPr>
          <p:spPr>
            <a:xfrm>
              <a:off x="77006" y="4569332"/>
              <a:ext cx="2541904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60" dirty="0">
                  <a:solidFill>
                    <a:srgbClr val="FFFFFF"/>
                  </a:solidFill>
                  <a:latin typeface="Cambria"/>
                  <a:cs typeface="Cambria"/>
                </a:rPr>
                <a:t>Literature</a:t>
              </a:r>
              <a:r>
                <a:rPr sz="2400" spc="-65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2400" spc="-30" dirty="0">
                  <a:solidFill>
                    <a:srgbClr val="FFFFFF"/>
                  </a:solidFill>
                  <a:latin typeface="Cambria"/>
                  <a:cs typeface="Cambria"/>
                </a:rPr>
                <a:t>Survey</a:t>
              </a:r>
              <a:endParaRPr sz="2400" dirty="0">
                <a:latin typeface="Cambria"/>
                <a:cs typeface="Cambria"/>
              </a:endParaRPr>
            </a:p>
          </p:txBody>
        </p:sp>
        <p:sp>
          <p:nvSpPr>
            <p:cNvPr id="29" name="object 12">
              <a:extLst>
                <a:ext uri="{FF2B5EF4-FFF2-40B4-BE49-F238E27FC236}">
                  <a16:creationId xmlns:a16="http://schemas.microsoft.com/office/drawing/2014/main" id="{6A3EFE20-A3B0-94DF-5484-ED358FDB9955}"/>
                </a:ext>
              </a:extLst>
            </p:cNvPr>
            <p:cNvSpPr txBox="1"/>
            <p:nvPr/>
          </p:nvSpPr>
          <p:spPr>
            <a:xfrm>
              <a:off x="91753" y="5373260"/>
              <a:ext cx="254190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6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Research Gaps</a:t>
              </a:r>
            </a:p>
          </p:txBody>
        </p:sp>
        <p:sp>
          <p:nvSpPr>
            <p:cNvPr id="31" name="object 13">
              <a:extLst>
                <a:ext uri="{FF2B5EF4-FFF2-40B4-BE49-F238E27FC236}">
                  <a16:creationId xmlns:a16="http://schemas.microsoft.com/office/drawing/2014/main" id="{8A1D4089-AE69-5CB2-34C3-4E90E5E5670B}"/>
                </a:ext>
              </a:extLst>
            </p:cNvPr>
            <p:cNvSpPr txBox="1"/>
            <p:nvPr/>
          </p:nvSpPr>
          <p:spPr>
            <a:xfrm>
              <a:off x="91753" y="5794343"/>
              <a:ext cx="136144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5" dirty="0">
                  <a:solidFill>
                    <a:srgbClr val="FFFFFF"/>
                  </a:solidFill>
                  <a:latin typeface="Cambria"/>
                </a:rPr>
                <a:t>Objectives</a:t>
              </a:r>
              <a:endParaRPr sz="2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0B6D261-B1D5-6675-0740-37EB18000BBD}"/>
                </a:ext>
              </a:extLst>
            </p:cNvPr>
            <p:cNvSpPr txBox="1"/>
            <p:nvPr/>
          </p:nvSpPr>
          <p:spPr>
            <a:xfrm>
              <a:off x="40135" y="6603152"/>
              <a:ext cx="24030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spc="-4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References</a:t>
              </a:r>
              <a:endParaRPr lang="en-IN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447EB27-1A1B-EA1D-303A-9A0E3615E6C5}"/>
              </a:ext>
            </a:extLst>
          </p:cNvPr>
          <p:cNvSpPr txBox="1"/>
          <p:nvPr/>
        </p:nvSpPr>
        <p:spPr>
          <a:xfrm>
            <a:off x="7441791" y="9287581"/>
            <a:ext cx="9195618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r>
              <a:rPr lang="en-US" sz="20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PISA: PORTABLE IOT SECURITY ASSESSMENT PLATFORM</a:t>
            </a:r>
          </a:p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endParaRPr lang="en-US" sz="4400" b="1" dirty="0">
              <a:solidFill>
                <a:schemeClr val="bg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B1BCC1-0470-1ED8-6328-17B750A6BD28}"/>
              </a:ext>
            </a:extLst>
          </p:cNvPr>
          <p:cNvSpPr txBox="1"/>
          <p:nvPr/>
        </p:nvSpPr>
        <p:spPr>
          <a:xfrm>
            <a:off x="10668000" y="9905545"/>
            <a:ext cx="487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PINNEMCHARLA SAI VIVEK REDDY  |  CH.SC.U4CYS23034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C1D811-5149-3829-5B1D-F66CF7786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074" y="1863210"/>
            <a:ext cx="9647756" cy="33302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466E2B-77A8-73C3-37BA-1D886C546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442" y="5257910"/>
            <a:ext cx="9358171" cy="402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030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D58B-8FBD-A42F-39BD-8DE1998C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C75E225-9B65-9438-297A-4AB72D9EE2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spcBef>
                <a:spcPts val="100"/>
              </a:spcBef>
            </a:pPr>
            <a:r>
              <a:rPr lang="en-US" spc="-40" dirty="0">
                <a:solidFill>
                  <a:srgbClr val="A3123F"/>
                </a:solidFill>
                <a:latin typeface="Georgia"/>
              </a:rPr>
              <a:t>References</a:t>
            </a:r>
            <a:endParaRPr lang="en-US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152BD6D-F032-496E-5C4A-496E53DF73B1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9623512-D9C1-3FEA-964A-EABC438F3778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121F7D0-EF36-AA74-268C-83EEC3F258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A4380D2-4990-CF72-D302-8D2944BF40D0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68DC82E-1D34-25A0-12F2-6725647E7DE4}"/>
              </a:ext>
            </a:extLst>
          </p:cNvPr>
          <p:cNvSpPr txBox="1"/>
          <p:nvPr/>
        </p:nvSpPr>
        <p:spPr>
          <a:xfrm>
            <a:off x="3567516" y="2089902"/>
            <a:ext cx="14680349" cy="59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[P01]  M. Vanhoef and E. Ronen, "Dragonblood: Analyzing the Dragonfly Handshake of WPA3," IEEE S&amp;P, 2020, pp. 517-532.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[P02]  M. Vanhoef, "Fragment and Forge: Breaking Wi-Fi Through Frame Aggregation," USENIX Security, 2021.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[P03]  D. Schepers, A. Ranganathan, M. Vanhoef, "Framing Frames: Bypassing Wi-Fi Encryption via Transmit Queues," USENIX Security, 2023.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[P04]  E. Gvozdenovic et al., "Systematically Analyzing Vulnerabilities in Wi-Fi Connection Establishment," IEEE CNS, 2022.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[P05]  T. D. Nguyen et al., "DIoT: A Self-Learning System for Detecting Compromised IoT Devices," IEEE IoT-J, vol. 10, no. 5, 2023.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[P06]  A. Churcher et al., "Survey on Enterprise IoT Systems (E-IoT): A Security Perspective," IEEE Access, vol. 9, 2021.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[P07]  A. Sivanathan, H. H. Gharakheili, V. Sivaraman, "IoT Behavioral Monitoring via Network Traffic Analysis," arXiv:2001.10632, 2020.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[P08]  X. Dong et al., "Toward IoT Device Fingerprinting from Proprietary Protocol Traffic," Computer Networks (Elsevier), vol. 224, 2023.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[P09]  S. Habibi Lashkari et al., "Device Identification Using Optimized Digital Footprints," arXiv:2212.04354, 2022.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[P10]  J. Ren et al., "Analyzing Consumer IoT Traffic: Security and Privacy Perspectives," IEEE/ACM Trans. Netw., 2024.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114F93B-BBA8-D2D5-7A17-4B5AA9D18F79}"/>
              </a:ext>
            </a:extLst>
          </p:cNvPr>
          <p:cNvGrpSpPr/>
          <p:nvPr/>
        </p:nvGrpSpPr>
        <p:grpSpPr>
          <a:xfrm>
            <a:off x="40135" y="3655375"/>
            <a:ext cx="3192964" cy="3409442"/>
            <a:chOff x="40135" y="3655375"/>
            <a:chExt cx="3192964" cy="3409442"/>
          </a:xfrm>
        </p:grpSpPr>
        <p:sp>
          <p:nvSpPr>
            <p:cNvPr id="31" name="object 11">
              <a:extLst>
                <a:ext uri="{FF2B5EF4-FFF2-40B4-BE49-F238E27FC236}">
                  <a16:creationId xmlns:a16="http://schemas.microsoft.com/office/drawing/2014/main" id="{75268DEB-7B12-BBCD-9BE5-96AEFA76EDFB}"/>
                </a:ext>
              </a:extLst>
            </p:cNvPr>
            <p:cNvSpPr txBox="1"/>
            <p:nvPr/>
          </p:nvSpPr>
          <p:spPr>
            <a:xfrm>
              <a:off x="79826" y="4967610"/>
              <a:ext cx="282538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Literature Search</a:t>
              </a:r>
              <a:endParaRPr sz="2400" spc="-50" dirty="0">
                <a:solidFill>
                  <a:srgbClr val="FFFFFF"/>
                </a:solidFill>
                <a:latin typeface="Cambria"/>
                <a:cs typeface="Cambria"/>
              </a:endParaRPr>
            </a:p>
          </p:txBody>
        </p:sp>
        <p:sp>
          <p:nvSpPr>
            <p:cNvPr id="33" name="object 14">
              <a:extLst>
                <a:ext uri="{FF2B5EF4-FFF2-40B4-BE49-F238E27FC236}">
                  <a16:creationId xmlns:a16="http://schemas.microsoft.com/office/drawing/2014/main" id="{9F996B4B-1883-BBAC-F0C7-27FCF4BCD3E0}"/>
                </a:ext>
              </a:extLst>
            </p:cNvPr>
            <p:cNvSpPr txBox="1"/>
            <p:nvPr/>
          </p:nvSpPr>
          <p:spPr>
            <a:xfrm>
              <a:off x="91753" y="6237920"/>
              <a:ext cx="3141346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</a:rPr>
                <a:t>Architecture Diagram</a:t>
              </a:r>
              <a:endParaRPr sz="2400" dirty="0"/>
            </a:p>
          </p:txBody>
        </p:sp>
        <p:sp>
          <p:nvSpPr>
            <p:cNvPr id="35" name="object 7">
              <a:extLst>
                <a:ext uri="{FF2B5EF4-FFF2-40B4-BE49-F238E27FC236}">
                  <a16:creationId xmlns:a16="http://schemas.microsoft.com/office/drawing/2014/main" id="{2EAC0ECC-A8A4-24D9-D823-A9D642D11BBC}"/>
                </a:ext>
              </a:extLst>
            </p:cNvPr>
            <p:cNvSpPr txBox="1"/>
            <p:nvPr/>
          </p:nvSpPr>
          <p:spPr>
            <a:xfrm>
              <a:off x="74559" y="4077070"/>
              <a:ext cx="245745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5" dirty="0">
                  <a:solidFill>
                    <a:schemeClr val="bg1"/>
                  </a:solidFill>
                  <a:latin typeface="Cambria"/>
                  <a:cs typeface="Cambria"/>
                </a:rPr>
                <a:t>Problem</a:t>
              </a:r>
              <a:r>
                <a:rPr sz="2400" spc="-6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400" spc="-45" dirty="0">
                  <a:solidFill>
                    <a:schemeClr val="bg1"/>
                  </a:solidFill>
                  <a:latin typeface="Cambria"/>
                  <a:cs typeface="Cambria"/>
                </a:rPr>
                <a:t>Statement</a:t>
              </a:r>
              <a:endParaRPr sz="2400" dirty="0">
                <a:solidFill>
                  <a:schemeClr val="bg1"/>
                </a:solidFill>
                <a:latin typeface="Cambria"/>
                <a:cs typeface="Cambria"/>
              </a:endParaRPr>
            </a:p>
          </p:txBody>
        </p:sp>
        <p:sp>
          <p:nvSpPr>
            <p:cNvPr id="37" name="object 9">
              <a:extLst>
                <a:ext uri="{FF2B5EF4-FFF2-40B4-BE49-F238E27FC236}">
                  <a16:creationId xmlns:a16="http://schemas.microsoft.com/office/drawing/2014/main" id="{DD252B78-A32B-6701-1672-DB5BCBAF55A2}"/>
                </a:ext>
              </a:extLst>
            </p:cNvPr>
            <p:cNvSpPr txBox="1"/>
            <p:nvPr/>
          </p:nvSpPr>
          <p:spPr>
            <a:xfrm>
              <a:off x="79475" y="3655375"/>
              <a:ext cx="1721848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0" dirty="0">
                  <a:solidFill>
                    <a:schemeClr val="bg1"/>
                  </a:solidFill>
                  <a:latin typeface="Cambria"/>
                  <a:ea typeface="Cambria"/>
                </a:rPr>
                <a:t>Motivation</a:t>
              </a:r>
              <a:endParaRPr lang="en-US" sz="2400" dirty="0">
                <a:solidFill>
                  <a:schemeClr val="bg1"/>
                </a:solidFill>
                <a:latin typeface="Cambria"/>
                <a:ea typeface="Cambria"/>
              </a:endParaRPr>
            </a:p>
          </p:txBody>
        </p:sp>
        <p:sp>
          <p:nvSpPr>
            <p:cNvPr id="39" name="object 10">
              <a:extLst>
                <a:ext uri="{FF2B5EF4-FFF2-40B4-BE49-F238E27FC236}">
                  <a16:creationId xmlns:a16="http://schemas.microsoft.com/office/drawing/2014/main" id="{9FB85E8C-93FE-1151-ECC3-0DC76972A1A0}"/>
                </a:ext>
              </a:extLst>
            </p:cNvPr>
            <p:cNvSpPr txBox="1"/>
            <p:nvPr/>
          </p:nvSpPr>
          <p:spPr>
            <a:xfrm>
              <a:off x="77006" y="4569332"/>
              <a:ext cx="2541904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60" dirty="0">
                  <a:solidFill>
                    <a:srgbClr val="FFFFFF"/>
                  </a:solidFill>
                  <a:latin typeface="Cambria"/>
                  <a:cs typeface="Cambria"/>
                </a:rPr>
                <a:t>Literature</a:t>
              </a:r>
              <a:r>
                <a:rPr sz="2400" spc="-65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2400" spc="-30" dirty="0">
                  <a:solidFill>
                    <a:srgbClr val="FFFFFF"/>
                  </a:solidFill>
                  <a:latin typeface="Cambria"/>
                  <a:cs typeface="Cambria"/>
                </a:rPr>
                <a:t>Survey</a:t>
              </a:r>
              <a:endParaRPr sz="2400" dirty="0">
                <a:latin typeface="Cambria"/>
                <a:cs typeface="Cambria"/>
              </a:endParaRPr>
            </a:p>
          </p:txBody>
        </p:sp>
        <p:sp>
          <p:nvSpPr>
            <p:cNvPr id="41" name="object 12">
              <a:extLst>
                <a:ext uri="{FF2B5EF4-FFF2-40B4-BE49-F238E27FC236}">
                  <a16:creationId xmlns:a16="http://schemas.microsoft.com/office/drawing/2014/main" id="{986A039C-8541-0DAB-0242-237036590905}"/>
                </a:ext>
              </a:extLst>
            </p:cNvPr>
            <p:cNvSpPr txBox="1"/>
            <p:nvPr/>
          </p:nvSpPr>
          <p:spPr>
            <a:xfrm>
              <a:off x="91753" y="5373260"/>
              <a:ext cx="254190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6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Research Gaps</a:t>
              </a:r>
            </a:p>
          </p:txBody>
        </p:sp>
        <p:sp>
          <p:nvSpPr>
            <p:cNvPr id="43" name="object 13">
              <a:extLst>
                <a:ext uri="{FF2B5EF4-FFF2-40B4-BE49-F238E27FC236}">
                  <a16:creationId xmlns:a16="http://schemas.microsoft.com/office/drawing/2014/main" id="{135E4F69-56A9-D149-8F54-3BBDD23DA27A}"/>
                </a:ext>
              </a:extLst>
            </p:cNvPr>
            <p:cNvSpPr txBox="1"/>
            <p:nvPr/>
          </p:nvSpPr>
          <p:spPr>
            <a:xfrm>
              <a:off x="91753" y="5794343"/>
              <a:ext cx="136144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5" dirty="0">
                  <a:solidFill>
                    <a:srgbClr val="FFFFFF"/>
                  </a:solidFill>
                  <a:latin typeface="Cambria"/>
                </a:rPr>
                <a:t>Objectives</a:t>
              </a:r>
              <a:endParaRPr sz="24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2FD7962-99D2-214C-C88A-154AF239FDAC}"/>
                </a:ext>
              </a:extLst>
            </p:cNvPr>
            <p:cNvSpPr txBox="1"/>
            <p:nvPr/>
          </p:nvSpPr>
          <p:spPr>
            <a:xfrm>
              <a:off x="40135" y="6603152"/>
              <a:ext cx="24030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spc="-40" dirty="0">
                  <a:solidFill>
                    <a:srgbClr val="FFC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References</a:t>
              </a:r>
              <a:endParaRPr lang="en-IN" sz="2400" b="1" dirty="0">
                <a:solidFill>
                  <a:srgbClr val="FFC000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8B9E4C6-EDBD-D337-7636-3EA199127F59}"/>
              </a:ext>
            </a:extLst>
          </p:cNvPr>
          <p:cNvSpPr txBox="1"/>
          <p:nvPr/>
        </p:nvSpPr>
        <p:spPr>
          <a:xfrm>
            <a:off x="7441791" y="9287581"/>
            <a:ext cx="9195618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r>
              <a:rPr lang="en-US" sz="20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PISA: PORTABLE IOT SECURITY ASSESSMENT PLATFORM</a:t>
            </a:r>
          </a:p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endParaRPr lang="en-US" sz="4400" b="1" dirty="0">
              <a:solidFill>
                <a:schemeClr val="bg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75B0EF-B6D7-C768-ECDA-6ED5D84800CC}"/>
              </a:ext>
            </a:extLst>
          </p:cNvPr>
          <p:cNvSpPr txBox="1"/>
          <p:nvPr/>
        </p:nvSpPr>
        <p:spPr>
          <a:xfrm>
            <a:off x="10668000" y="9905545"/>
            <a:ext cx="487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PINNEMCHARLA SAI VIVEK REDDY  |  CH.SC.U4CYS23034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9526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F5100-B8B0-ECB8-1C74-92751CBF0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362BFD5-018E-F9E2-1668-7D453ACB36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spcBef>
                <a:spcPts val="100"/>
              </a:spcBef>
            </a:pPr>
            <a:r>
              <a:rPr lang="en-US" spc="-40" dirty="0">
                <a:solidFill>
                  <a:srgbClr val="A3123F"/>
                </a:solidFill>
                <a:latin typeface="Georgia"/>
              </a:rPr>
              <a:t>References</a:t>
            </a:r>
            <a:endParaRPr lang="en-US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B2A2091-4164-1F5F-36BC-755BC20A3011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0165A65-C2E6-4EC2-9FEB-BBA60F772110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42C2064A-8DFB-43C8-A19F-8C7B3CEA652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0681E30-4C35-F10D-1788-8628993B89F4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AAF2FD1-C650-E1C6-9534-A0ECBAAB0CF8}"/>
              </a:ext>
            </a:extLst>
          </p:cNvPr>
          <p:cNvSpPr txBox="1"/>
          <p:nvPr/>
        </p:nvSpPr>
        <p:spPr>
          <a:xfrm>
            <a:off x="3567516" y="2089902"/>
            <a:ext cx="14680349" cy="5640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[P11]  M. Soni and A. Singh, "Vulnerability Assessment of MQTT Protocol in IoT," IEEE ICCCA, 2021. DOI: 10.1109/ICCCA52192.2021.9478156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[P12]  M. Palmieri et al., "Experimental Evaluation of MQTT Authentication and Authorization in IoT," ACM WiNTECH, 2021.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[P13]  M. Hasan et al., "Preventing MQTT Vulnerabilities Using IoT-Enabled IDS," Sensors (MDPI), vol. 22, no. 2, 2022.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[P14]  T. Amsuess et al., "Securing Name Resolution in IoT: DNS over CoAP," ACM Netw., vol. 1, no. 2, 2023.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[P15]  J. Jacobs et al., "Exploit Prediction Scoring System (EPSS)," ACM Digital Threats: Res. &amp; Practice, vol. 2, no. 3, 2021.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[P16]  A. Subramaniam et al., "Efficacy of EPSS in High-Severity CVEs in CISA KEV," arXiv:2411.02618, 2024.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[P17]  P. Radoglou-Grammatikis et al., "Analysis of IoT Vulnerability Quantification Frameworks," Electronics (MDPI), vol. 12, 2023.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[P18]  M. Anand et al., "A New Method for Vulnerability and Risk Assessment of IoT," Computer Networks (Elsevier), vol. 236, 2023.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[P19]  G. Heiding, B. Lundell, U. Lindqvist, "SAFER: IoT Device Risk Assessment Framework," arXiv:2007.14724, 2020.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lang="en-IN" sz="2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[P20]  J. Varga et al., "IoT Device Security Audit Tools: Comprehensive Analysis," Int. J. Inf. Secur. (Springer), 2024.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BFA967E-FB4E-D407-EE87-71B27DADB945}"/>
              </a:ext>
            </a:extLst>
          </p:cNvPr>
          <p:cNvGrpSpPr/>
          <p:nvPr/>
        </p:nvGrpSpPr>
        <p:grpSpPr>
          <a:xfrm>
            <a:off x="40135" y="3655375"/>
            <a:ext cx="3192964" cy="3409442"/>
            <a:chOff x="40135" y="3655375"/>
            <a:chExt cx="3192964" cy="3409442"/>
          </a:xfrm>
        </p:grpSpPr>
        <p:sp>
          <p:nvSpPr>
            <p:cNvPr id="31" name="object 11">
              <a:extLst>
                <a:ext uri="{FF2B5EF4-FFF2-40B4-BE49-F238E27FC236}">
                  <a16:creationId xmlns:a16="http://schemas.microsoft.com/office/drawing/2014/main" id="{F4A090CF-C581-61AF-CA42-3A7925379A57}"/>
                </a:ext>
              </a:extLst>
            </p:cNvPr>
            <p:cNvSpPr txBox="1"/>
            <p:nvPr/>
          </p:nvSpPr>
          <p:spPr>
            <a:xfrm>
              <a:off x="79826" y="4967610"/>
              <a:ext cx="282538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Literature Search</a:t>
              </a:r>
              <a:endParaRPr sz="2400" spc="-50" dirty="0">
                <a:solidFill>
                  <a:srgbClr val="FFFFFF"/>
                </a:solidFill>
                <a:latin typeface="Cambria"/>
                <a:cs typeface="Cambria"/>
              </a:endParaRPr>
            </a:p>
          </p:txBody>
        </p:sp>
        <p:sp>
          <p:nvSpPr>
            <p:cNvPr id="33" name="object 14">
              <a:extLst>
                <a:ext uri="{FF2B5EF4-FFF2-40B4-BE49-F238E27FC236}">
                  <a16:creationId xmlns:a16="http://schemas.microsoft.com/office/drawing/2014/main" id="{BD6488C8-471A-4406-FF91-D7EF06681EA8}"/>
                </a:ext>
              </a:extLst>
            </p:cNvPr>
            <p:cNvSpPr txBox="1"/>
            <p:nvPr/>
          </p:nvSpPr>
          <p:spPr>
            <a:xfrm>
              <a:off x="91753" y="6237920"/>
              <a:ext cx="3141346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50" dirty="0">
                  <a:solidFill>
                    <a:srgbClr val="FFFFFF"/>
                  </a:solidFill>
                  <a:latin typeface="Cambria"/>
                </a:rPr>
                <a:t>Architecture Diagram</a:t>
              </a:r>
              <a:endParaRPr sz="2400" dirty="0"/>
            </a:p>
          </p:txBody>
        </p:sp>
        <p:sp>
          <p:nvSpPr>
            <p:cNvPr id="35" name="object 7">
              <a:extLst>
                <a:ext uri="{FF2B5EF4-FFF2-40B4-BE49-F238E27FC236}">
                  <a16:creationId xmlns:a16="http://schemas.microsoft.com/office/drawing/2014/main" id="{0193FF1F-5FAF-A8E6-AB5C-D885A02E8985}"/>
                </a:ext>
              </a:extLst>
            </p:cNvPr>
            <p:cNvSpPr txBox="1"/>
            <p:nvPr/>
          </p:nvSpPr>
          <p:spPr>
            <a:xfrm>
              <a:off x="74559" y="4077070"/>
              <a:ext cx="245745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5" dirty="0">
                  <a:solidFill>
                    <a:schemeClr val="bg1"/>
                  </a:solidFill>
                  <a:latin typeface="Cambria"/>
                  <a:cs typeface="Cambria"/>
                </a:rPr>
                <a:t>Problem</a:t>
              </a:r>
              <a:r>
                <a:rPr sz="2400" spc="-65" dirty="0">
                  <a:solidFill>
                    <a:schemeClr val="bg1"/>
                  </a:solidFill>
                  <a:latin typeface="Cambria"/>
                  <a:cs typeface="Cambria"/>
                </a:rPr>
                <a:t> </a:t>
              </a:r>
              <a:r>
                <a:rPr sz="2400" spc="-45" dirty="0">
                  <a:solidFill>
                    <a:schemeClr val="bg1"/>
                  </a:solidFill>
                  <a:latin typeface="Cambria"/>
                  <a:cs typeface="Cambria"/>
                </a:rPr>
                <a:t>Statement</a:t>
              </a:r>
              <a:endParaRPr sz="2400" dirty="0">
                <a:solidFill>
                  <a:schemeClr val="bg1"/>
                </a:solidFill>
                <a:latin typeface="Cambria"/>
                <a:cs typeface="Cambria"/>
              </a:endParaRPr>
            </a:p>
          </p:txBody>
        </p:sp>
        <p:sp>
          <p:nvSpPr>
            <p:cNvPr id="37" name="object 9">
              <a:extLst>
                <a:ext uri="{FF2B5EF4-FFF2-40B4-BE49-F238E27FC236}">
                  <a16:creationId xmlns:a16="http://schemas.microsoft.com/office/drawing/2014/main" id="{65823032-0F27-302B-7E44-0FDEB6C899D6}"/>
                </a:ext>
              </a:extLst>
            </p:cNvPr>
            <p:cNvSpPr txBox="1"/>
            <p:nvPr/>
          </p:nvSpPr>
          <p:spPr>
            <a:xfrm>
              <a:off x="79475" y="3655375"/>
              <a:ext cx="1721848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0" dirty="0">
                  <a:solidFill>
                    <a:schemeClr val="bg1"/>
                  </a:solidFill>
                  <a:latin typeface="Cambria"/>
                  <a:ea typeface="Cambria"/>
                </a:rPr>
                <a:t>Motivation</a:t>
              </a:r>
              <a:endParaRPr lang="en-US" sz="2400" dirty="0">
                <a:solidFill>
                  <a:schemeClr val="bg1"/>
                </a:solidFill>
                <a:latin typeface="Cambria"/>
                <a:ea typeface="Cambria"/>
              </a:endParaRPr>
            </a:p>
          </p:txBody>
        </p:sp>
        <p:sp>
          <p:nvSpPr>
            <p:cNvPr id="39" name="object 10">
              <a:extLst>
                <a:ext uri="{FF2B5EF4-FFF2-40B4-BE49-F238E27FC236}">
                  <a16:creationId xmlns:a16="http://schemas.microsoft.com/office/drawing/2014/main" id="{A72023CD-E3D5-1428-9AD5-EA1961F70E6F}"/>
                </a:ext>
              </a:extLst>
            </p:cNvPr>
            <p:cNvSpPr txBox="1"/>
            <p:nvPr/>
          </p:nvSpPr>
          <p:spPr>
            <a:xfrm>
              <a:off x="77006" y="4569332"/>
              <a:ext cx="2541904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60" dirty="0">
                  <a:solidFill>
                    <a:srgbClr val="FFFFFF"/>
                  </a:solidFill>
                  <a:latin typeface="Cambria"/>
                  <a:cs typeface="Cambria"/>
                </a:rPr>
                <a:t>Literature</a:t>
              </a:r>
              <a:r>
                <a:rPr sz="2400" spc="-65" dirty="0">
                  <a:solidFill>
                    <a:srgbClr val="FFFFFF"/>
                  </a:solidFill>
                  <a:latin typeface="Cambria"/>
                  <a:cs typeface="Cambria"/>
                </a:rPr>
                <a:t> </a:t>
              </a:r>
              <a:r>
                <a:rPr sz="2400" spc="-30" dirty="0">
                  <a:solidFill>
                    <a:srgbClr val="FFFFFF"/>
                  </a:solidFill>
                  <a:latin typeface="Cambria"/>
                  <a:cs typeface="Cambria"/>
                </a:rPr>
                <a:t>Survey</a:t>
              </a:r>
              <a:endParaRPr sz="2400" dirty="0">
                <a:latin typeface="Cambria"/>
                <a:cs typeface="Cambria"/>
              </a:endParaRPr>
            </a:p>
          </p:txBody>
        </p:sp>
        <p:sp>
          <p:nvSpPr>
            <p:cNvPr id="41" name="object 12">
              <a:extLst>
                <a:ext uri="{FF2B5EF4-FFF2-40B4-BE49-F238E27FC236}">
                  <a16:creationId xmlns:a16="http://schemas.microsoft.com/office/drawing/2014/main" id="{90DB1924-12E6-44E8-DCA7-CF7CBFB6B313}"/>
                </a:ext>
              </a:extLst>
            </p:cNvPr>
            <p:cNvSpPr txBox="1"/>
            <p:nvPr/>
          </p:nvSpPr>
          <p:spPr>
            <a:xfrm>
              <a:off x="91753" y="5373260"/>
              <a:ext cx="2541905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60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Research Gaps</a:t>
              </a:r>
            </a:p>
          </p:txBody>
        </p:sp>
        <p:sp>
          <p:nvSpPr>
            <p:cNvPr id="43" name="object 13">
              <a:extLst>
                <a:ext uri="{FF2B5EF4-FFF2-40B4-BE49-F238E27FC236}">
                  <a16:creationId xmlns:a16="http://schemas.microsoft.com/office/drawing/2014/main" id="{DF522E7C-3F5E-0D0B-CA17-8071F6F59D1D}"/>
                </a:ext>
              </a:extLst>
            </p:cNvPr>
            <p:cNvSpPr txBox="1"/>
            <p:nvPr/>
          </p:nvSpPr>
          <p:spPr>
            <a:xfrm>
              <a:off x="91753" y="5794343"/>
              <a:ext cx="1361440" cy="382156"/>
            </a:xfrm>
            <a:prstGeom prst="rect">
              <a:avLst/>
            </a:prstGeom>
          </p:spPr>
          <p:txBody>
            <a:bodyPr vert="horz" wrap="square" lIns="0" tIns="12700" rIns="0" bIns="0" rtlCol="0" anchor="t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400" spc="-55" dirty="0">
                  <a:solidFill>
                    <a:srgbClr val="FFFFFF"/>
                  </a:solidFill>
                  <a:latin typeface="Cambria"/>
                </a:rPr>
                <a:t>Objectives</a:t>
              </a:r>
              <a:endParaRPr sz="24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295E4B7-358D-BB94-61E0-81A1631417FF}"/>
                </a:ext>
              </a:extLst>
            </p:cNvPr>
            <p:cNvSpPr txBox="1"/>
            <p:nvPr/>
          </p:nvSpPr>
          <p:spPr>
            <a:xfrm>
              <a:off x="40135" y="6603152"/>
              <a:ext cx="24030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spc="-40" dirty="0">
                  <a:solidFill>
                    <a:srgbClr val="FFC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References</a:t>
              </a:r>
              <a:endParaRPr lang="en-IN" sz="2400" b="1" dirty="0">
                <a:solidFill>
                  <a:srgbClr val="FFC000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A449ACD-9E8E-3061-031B-72CD0A1B65AA}"/>
              </a:ext>
            </a:extLst>
          </p:cNvPr>
          <p:cNvSpPr txBox="1"/>
          <p:nvPr/>
        </p:nvSpPr>
        <p:spPr>
          <a:xfrm>
            <a:off x="7441791" y="9287581"/>
            <a:ext cx="9195618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r>
              <a:rPr lang="en-US" sz="20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PISA: PORTABLE IOT SECURITY ASSESSMENT PLATFORM</a:t>
            </a:r>
          </a:p>
          <a:p>
            <a:pPr marL="4226560" marR="5080" indent="-4214495" algn="ctr">
              <a:lnSpc>
                <a:spcPts val="5180"/>
              </a:lnSpc>
              <a:spcBef>
                <a:spcPts val="755"/>
              </a:spcBef>
            </a:pPr>
            <a:endParaRPr lang="en-US" sz="4400" b="1" dirty="0">
              <a:solidFill>
                <a:schemeClr val="bg1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C98424-491C-6C60-CD70-318B3A966FE1}"/>
              </a:ext>
            </a:extLst>
          </p:cNvPr>
          <p:cNvSpPr txBox="1"/>
          <p:nvPr/>
        </p:nvSpPr>
        <p:spPr>
          <a:xfrm>
            <a:off x="10668000" y="9905545"/>
            <a:ext cx="487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PINNEMCHARLA SAI VIVEK REDDY  |  CH.SC.U4CYS23034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3443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9636" y="9814823"/>
            <a:ext cx="1156906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AMARAVATI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AMRITAPURI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BENGALURU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b="1" dirty="0">
                <a:solidFill>
                  <a:srgbClr val="FFFFFF"/>
                </a:solidFill>
                <a:latin typeface="Arial"/>
                <a:cs typeface="Arial"/>
              </a:rPr>
              <a:t>CHENNAI</a:t>
            </a:r>
            <a:r>
              <a:rPr sz="16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COIMBATORE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FARIDABAD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KOCHI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MYSURU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NAGARCOIL</a:t>
            </a:r>
            <a:endParaRPr sz="16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8287998" cy="10286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02665" y="5332729"/>
            <a:ext cx="38830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135" dirty="0">
                <a:solidFill>
                  <a:srgbClr val="FFFFFF"/>
                </a:solidFill>
                <a:latin typeface="Georgia"/>
                <a:cs typeface="Georgia"/>
              </a:rPr>
              <a:t>Thank</a:t>
            </a:r>
            <a:r>
              <a:rPr sz="6000" spc="3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6000" spc="90" dirty="0">
                <a:solidFill>
                  <a:srgbClr val="FFFFFF"/>
                </a:solidFill>
                <a:latin typeface="Georgia"/>
                <a:cs typeface="Georgia"/>
              </a:rPr>
              <a:t>You</a:t>
            </a:r>
            <a:endParaRPr sz="60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0935" y="6875743"/>
            <a:ext cx="10906125" cy="14604"/>
          </a:xfrm>
          <a:custGeom>
            <a:avLst/>
            <a:gdLst/>
            <a:ahLst/>
            <a:cxnLst/>
            <a:rect l="l" t="t" r="r" b="b"/>
            <a:pathLst>
              <a:path w="10906125" h="14604">
                <a:moveTo>
                  <a:pt x="0" y="0"/>
                </a:moveTo>
                <a:lnTo>
                  <a:pt x="10906010" y="14275"/>
                </a:lnTo>
              </a:path>
            </a:pathLst>
          </a:custGeom>
          <a:ln w="9524">
            <a:solidFill>
              <a:srgbClr val="FFD1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6DB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953</TotalTime>
  <Words>2387</Words>
  <Application>Microsoft Office PowerPoint</Application>
  <PresentationFormat>Custom</PresentationFormat>
  <Paragraphs>395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MT</vt:lpstr>
      <vt:lpstr>Cambria</vt:lpstr>
      <vt:lpstr>Georgia</vt:lpstr>
      <vt:lpstr>Lucida Sans Unicode</vt:lpstr>
      <vt:lpstr>Times New Roman</vt:lpstr>
      <vt:lpstr>Office Theme</vt:lpstr>
      <vt:lpstr>20CYS495 Project Phase-1 Zeroth Review Presentation</vt:lpstr>
      <vt:lpstr>Motivation</vt:lpstr>
      <vt:lpstr>Problem Statement</vt:lpstr>
      <vt:lpstr>Literature Survey</vt:lpstr>
      <vt:lpstr>Literature Survey</vt:lpstr>
      <vt:lpstr>Literature Survey</vt:lpstr>
      <vt:lpstr>Literature Search</vt:lpstr>
      <vt:lpstr>Research Gaps</vt:lpstr>
      <vt:lpstr>Research Gaps</vt:lpstr>
      <vt:lpstr>Objectives</vt:lpstr>
      <vt:lpstr>Architecture Diagram</vt:lpstr>
      <vt:lpstr>Architecture Diagram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template.pptx</dc:title>
  <dc:creator>Julluneeraja</dc:creator>
  <cp:keywords>DAG-373mRgY,BAF3oVSqZHw,0</cp:keywords>
  <cp:lastModifiedBy>Pinnemcharla Sai Vivek Reddy-[CH.SC.U4CYS23034]</cp:lastModifiedBy>
  <cp:revision>107</cp:revision>
  <dcterms:created xsi:type="dcterms:W3CDTF">2026-06-23T08:28:57Z</dcterms:created>
  <dcterms:modified xsi:type="dcterms:W3CDTF">2026-07-09T09:50:46Z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2026-01-20T00:00:00Z</vt:filetime>
  </property>
  <property fmtid="{D5CDD505-2E9C-101B-9397-08002B2CF9AE}" pid="4" name="Creator">
    <vt:lpwstr>Canva</vt:lpwstr>
  </property>
  <property fmtid="{D5CDD505-2E9C-101B-9397-08002B2CF9AE}" pid="5" name="LastSaved">
    <vt:filetime>2026-06-23T00:00:00Z</vt:filetime>
  </property>
  <property fmtid="{D5CDD505-2E9C-101B-9397-08002B2CF9AE}" pid="6" name="Producer">
    <vt:lpwstr>Canva</vt:lpwstr>
  </property>
</Properties>
</file>